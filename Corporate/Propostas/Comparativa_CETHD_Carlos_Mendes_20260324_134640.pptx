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ECECE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982712" y="0"/>
            <a:ext cx="36576" cy="6858000"/>
          </a:xfrm>
          <a:prstGeom prst="rect">
            <a:avLst/>
          </a:prstGeom>
          <a:solidFill>
            <a:srgbClr val="2A2A2A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14173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CONSÓRCIO IMOBILIÁRIO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7132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Apresentação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Comparativa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Propostas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7132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cenários  —  Carlos Mendes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320040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8640" y="53218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Março 2026</a:t>
            </a:r>
            <a:endParaRPr lang="en-US" sz="1100" dirty="0"/>
          </a:p>
        </p:txBody>
      </p:sp>
      <p:pic>
        <p:nvPicPr>
          <p:cNvPr id="9" name="Image 0" descr="C:\Users\Pedro Paulo Aguilar\Documents\Somus_Templates\logo_extraido\somus_logo_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2103120"/>
            <a:ext cx="29260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Comparativo das visões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42232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055864" y="822960"/>
            <a:ext cx="18288" cy="5742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57200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6º mês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0040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0040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4632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84632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20040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84632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84632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0,621% a.m.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20040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484632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4632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0040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20040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84632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4632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25%  —  R$ 375.000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0040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4632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4632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20040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20040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84632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4632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4233672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70832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12º mês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233672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233672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98264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398264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4233672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233672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4398264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398264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233672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233672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398264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398264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4233672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233672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398264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4398264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 —  R$ 225.000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4233672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233672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98264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398264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233672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233672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98264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398264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8147304" y="822960"/>
            <a:ext cx="3749040" cy="5029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284464" y="8229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no 24º mês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8147304" y="1325880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8147304" y="1380744"/>
            <a:ext cx="36576" cy="74980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311896" y="139903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Contemplação estimada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311896" y="161848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8147304" y="2185416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8147304" y="2240280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311896" y="2258568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mensal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8311896" y="2478024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500" dirty="0"/>
          </a:p>
        </p:txBody>
      </p:sp>
      <p:sp>
        <p:nvSpPr>
          <p:cNvPr id="69" name="Shape 67"/>
          <p:cNvSpPr/>
          <p:nvPr/>
        </p:nvSpPr>
        <p:spPr>
          <a:xfrm>
            <a:off x="8147304" y="3044952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8147304" y="3099816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1" name="Text 69"/>
          <p:cNvSpPr/>
          <p:nvPr/>
        </p:nvSpPr>
        <p:spPr>
          <a:xfrm>
            <a:off x="8311896" y="3118104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CET anual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311896" y="3337560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500" dirty="0"/>
          </a:p>
        </p:txBody>
      </p:sp>
      <p:sp>
        <p:nvSpPr>
          <p:cNvPr id="73" name="Shape 71"/>
          <p:cNvSpPr/>
          <p:nvPr/>
        </p:nvSpPr>
        <p:spPr>
          <a:xfrm>
            <a:off x="8147304" y="3904488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8147304" y="3959352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311896" y="3977640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8311896" y="4197096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5%  —  R$ 75.000</a:t>
            </a:r>
            <a:endParaRPr lang="en-US" sz="1500" dirty="0"/>
          </a:p>
        </p:txBody>
      </p:sp>
      <p:sp>
        <p:nvSpPr>
          <p:cNvPr id="77" name="Shape 75"/>
          <p:cNvSpPr/>
          <p:nvPr/>
        </p:nvSpPr>
        <p:spPr>
          <a:xfrm>
            <a:off x="8147304" y="4764024"/>
            <a:ext cx="3749040" cy="859536"/>
          </a:xfrm>
          <a:prstGeom prst="rect">
            <a:avLst/>
          </a:prstGeom>
          <a:solidFill>
            <a:srgbClr val="F4FBF7"/>
          </a:solidFill>
          <a:ln/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8147304" y="4818888"/>
            <a:ext cx="36576" cy="74980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8311896" y="4837176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311896" y="5056632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8147304" y="5623560"/>
            <a:ext cx="3749040" cy="85953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8147304" y="5678424"/>
            <a:ext cx="36576" cy="74980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8311896" y="5696712"/>
            <a:ext cx="3547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8311896" y="5916168"/>
            <a:ext cx="3547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1500" dirty="0"/>
          </a:p>
        </p:txBody>
      </p:sp>
      <p:sp>
        <p:nvSpPr>
          <p:cNvPr id="85" name="Shape 8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86" name="Text 8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(25%)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R$ 375.000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7,71%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0,621%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1  —  Contemplação no 6º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R$ 12.300,00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R$ 7.100,00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91" name="Text 89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3" name="Text 91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R$ 7.313,00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Text 157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2" name="Text 160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R$ 7.532,39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65" name="Shape 163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66" name="Text 164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67" name="Text 165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(15%)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R$ 225.000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R$ 825.000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8,52%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0,6854%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2  —  Contemplação no 12º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R$ 10.850,00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Text 82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0" name="Text 88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R$ 6.400,00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2" name="Text 100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8" name="Text 106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1" name="Text 109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R$ 6.592,00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Text 157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2" name="Text 160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65" name="Text 163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8" name="Text 166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R$ 6.789,76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71" name="Shape 16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72" name="Text 17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086600" y="822960"/>
            <a:ext cx="27432" cy="557784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8229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VALORES EM REAIS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57200" y="1252728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21792" y="1252728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1792" y="1481328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R$ 1.500.000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1792" y="1911096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total da carta de crédito contratada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2286000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1792" y="22860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embutido (30%)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2514600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R$ 450.000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" y="2944368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Retirado da carta para uso como lance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457200" y="3319272"/>
            <a:ext cx="6400800" cy="978408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57200" y="3319272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3319272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disponível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21792" y="3547872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R$ 1.050.000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1792" y="3977640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desconto do lance embutido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4325112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4352544"/>
            <a:ext cx="36576" cy="850392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1792" y="4352544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Lance livre (5%)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21792" y="4581144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R$ 75.000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1792" y="5010912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Pago do próprio bolso como lance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5358384"/>
            <a:ext cx="640080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57200" y="5385816"/>
            <a:ext cx="36576" cy="850392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21792" y="5385816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Alavancagem (dinheiro novo)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1792" y="5614416"/>
            <a:ext cx="6217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R$ 975.000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21792" y="6044184"/>
            <a:ext cx="6217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A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Crédito efetivo além do capital investido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06640" y="82296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06640" y="10972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406640" y="123444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571232" y="123444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Taxa de administração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571232" y="143560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19,00%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406640" y="189280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7406640" y="201168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7571232" y="201168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Fundo de reserva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571232" y="221284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3,00%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7406640" y="2670048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7406640" y="278892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406640" y="306324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7406640" y="320040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71232" y="32004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Prazo total da operação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571232" y="34015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 meses</a:t>
            </a:r>
            <a:endParaRPr lang="en-US" sz="2200" dirty="0"/>
          </a:p>
        </p:txBody>
      </p:sp>
      <p:sp>
        <p:nvSpPr>
          <p:cNvPr id="48" name="Shape 46"/>
          <p:cNvSpPr/>
          <p:nvPr/>
        </p:nvSpPr>
        <p:spPr>
          <a:xfrm>
            <a:off x="7406640" y="3840480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406640" y="3959352"/>
            <a:ext cx="36576" cy="566928"/>
          </a:xfrm>
          <a:prstGeom prst="rect">
            <a:avLst/>
          </a:prstGeom>
          <a:solidFill>
            <a:srgbClr val="967439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7571232" y="395935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Expectativa de contemplação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7571232" y="4160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24º mês</a:t>
            </a:r>
            <a:endParaRPr lang="en-US" sz="2200" dirty="0"/>
          </a:p>
        </p:txBody>
      </p:sp>
      <p:sp>
        <p:nvSpPr>
          <p:cNvPr id="52" name="Shape 50"/>
          <p:cNvSpPr/>
          <p:nvPr/>
        </p:nvSpPr>
        <p:spPr>
          <a:xfrm>
            <a:off x="7406640" y="4599432"/>
            <a:ext cx="4389120" cy="27432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406640" y="4709160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406640" y="4782312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7571232" y="478231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571232" y="498348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9,38% a.a.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406640" y="5458968"/>
            <a:ext cx="4389120" cy="713232"/>
          </a:xfrm>
          <a:prstGeom prst="rect">
            <a:avLst/>
          </a:prstGeom>
          <a:solidFill>
            <a:srgbClr val="EAF5EF"/>
          </a:solidFill>
          <a:ln/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406640" y="5532120"/>
            <a:ext cx="36576" cy="566928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7571232" y="553212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 Efetivo Total (CET)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571232" y="57332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0,7512% a.m.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004D3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73152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Operação 3  —  Contemplação no 24º mês  —  Tabela de parcelas  (1/1)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3152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Correção anual pré-fixada de 3%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11480" y="658368"/>
            <a:ext cx="146304" cy="14630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640080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Parcelas pré-contemplação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089904" y="868680"/>
            <a:ext cx="18288" cy="5715000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11480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11480" y="117957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11480" y="140360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21208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11480" y="162763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21208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11480" y="185166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21208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11480" y="207568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21208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11480" y="229971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21208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11480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11480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11480" y="252374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21208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1480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11480" y="274777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21208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8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480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11480" y="297180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21208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9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411480" y="319582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521208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11480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11480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11480" y="341985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21208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11480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11480" y="364388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521208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12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11480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11480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411480" y="386791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521208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11480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11480" y="409194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521208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14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11480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11480" y="431596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21208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11480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411480" y="453999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21208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11480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11480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411480" y="476402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521208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17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411480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411480" y="498805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521208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18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411480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11480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411480" y="521208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521208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19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411480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411480" y="5436108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21208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20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411480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411480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411480" y="5660136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93" name="Text 91"/>
          <p:cNvSpPr/>
          <p:nvPr/>
        </p:nvSpPr>
        <p:spPr>
          <a:xfrm>
            <a:off x="521208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21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411480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11480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411480" y="5884164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521208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22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411480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411480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411480" y="6108192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521208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23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411480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3" name="Shape 101"/>
          <p:cNvSpPr/>
          <p:nvPr/>
        </p:nvSpPr>
        <p:spPr>
          <a:xfrm>
            <a:off x="411480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411480" y="6332220"/>
            <a:ext cx="36576" cy="1691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521208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24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411480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R$ 9.200,00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411480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6382512" y="896112"/>
            <a:ext cx="5394960" cy="256032"/>
          </a:xfrm>
          <a:prstGeom prst="rect">
            <a:avLst/>
          </a:prstGeom>
          <a:solidFill>
            <a:srgbClr val="F0F0F0"/>
          </a:solidFill>
          <a:ln/>
        </p:spPr>
        <p:txBody>
          <a:bodyPr/>
          <a:p/>
        </p:txBody>
      </p:sp>
      <p:sp>
        <p:nvSpPr>
          <p:cNvPr id="109" name="Text 107"/>
          <p:cNvSpPr/>
          <p:nvPr/>
        </p:nvSpPr>
        <p:spPr>
          <a:xfrm>
            <a:off x="6492240" y="89611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6382512" y="8961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6666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Valor mensal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6492240" y="117043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25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6382512" y="117043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6382512" y="136702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14" name="Text 112"/>
          <p:cNvSpPr/>
          <p:nvPr/>
        </p:nvSpPr>
        <p:spPr>
          <a:xfrm>
            <a:off x="6492240" y="139446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26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6382512" y="139446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6382512" y="159105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17" name="Text 115"/>
          <p:cNvSpPr/>
          <p:nvPr/>
        </p:nvSpPr>
        <p:spPr>
          <a:xfrm>
            <a:off x="6492240" y="161848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27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6382512" y="161848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6382512" y="181508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0" name="Text 118"/>
          <p:cNvSpPr/>
          <p:nvPr/>
        </p:nvSpPr>
        <p:spPr>
          <a:xfrm>
            <a:off x="6492240" y="184251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28</a:t>
            </a:r>
            <a:endParaRPr lang="en-US" sz="900" dirty="0"/>
          </a:p>
        </p:txBody>
      </p:sp>
      <p:sp>
        <p:nvSpPr>
          <p:cNvPr id="121" name="Text 119"/>
          <p:cNvSpPr/>
          <p:nvPr/>
        </p:nvSpPr>
        <p:spPr>
          <a:xfrm>
            <a:off x="6382512" y="184251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6382512" y="203911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6492240" y="206654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29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6382512" y="206654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5" name="Shape 123"/>
          <p:cNvSpPr/>
          <p:nvPr/>
        </p:nvSpPr>
        <p:spPr>
          <a:xfrm>
            <a:off x="6382512" y="226314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6492240" y="229057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30</a:t>
            </a:r>
            <a:endParaRPr lang="en-US" sz="900" dirty="0"/>
          </a:p>
        </p:txBody>
      </p:sp>
      <p:sp>
        <p:nvSpPr>
          <p:cNvPr id="127" name="Text 125"/>
          <p:cNvSpPr/>
          <p:nvPr/>
        </p:nvSpPr>
        <p:spPr>
          <a:xfrm>
            <a:off x="6382512" y="229057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6382512" y="248716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29" name="Text 127"/>
          <p:cNvSpPr/>
          <p:nvPr/>
        </p:nvSpPr>
        <p:spPr>
          <a:xfrm>
            <a:off x="6492240" y="251460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31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6382512" y="251460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>
            <a:off x="6382512" y="271119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6492240" y="273862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32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6382512" y="273862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6382512" y="293522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35" name="Text 133"/>
          <p:cNvSpPr/>
          <p:nvPr/>
        </p:nvSpPr>
        <p:spPr>
          <a:xfrm>
            <a:off x="6492240" y="296265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33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6382512" y="296265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37" name="Shape 135"/>
          <p:cNvSpPr/>
          <p:nvPr/>
        </p:nvSpPr>
        <p:spPr>
          <a:xfrm>
            <a:off x="6382512" y="315925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492240" y="318668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34</a:t>
            </a:r>
            <a:endParaRPr lang="en-US" sz="900" dirty="0"/>
          </a:p>
        </p:txBody>
      </p:sp>
      <p:sp>
        <p:nvSpPr>
          <p:cNvPr id="139" name="Text 137"/>
          <p:cNvSpPr/>
          <p:nvPr/>
        </p:nvSpPr>
        <p:spPr>
          <a:xfrm>
            <a:off x="6382512" y="318668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0" name="Shape 138"/>
          <p:cNvSpPr/>
          <p:nvPr/>
        </p:nvSpPr>
        <p:spPr>
          <a:xfrm>
            <a:off x="6382512" y="338328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1" name="Text 139"/>
          <p:cNvSpPr/>
          <p:nvPr/>
        </p:nvSpPr>
        <p:spPr>
          <a:xfrm>
            <a:off x="6492240" y="341071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35</a:t>
            </a:r>
            <a:endParaRPr lang="en-US" sz="900" dirty="0"/>
          </a:p>
        </p:txBody>
      </p:sp>
      <p:sp>
        <p:nvSpPr>
          <p:cNvPr id="142" name="Text 140"/>
          <p:cNvSpPr/>
          <p:nvPr/>
        </p:nvSpPr>
        <p:spPr>
          <a:xfrm>
            <a:off x="6382512" y="341071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3" name="Shape 141"/>
          <p:cNvSpPr/>
          <p:nvPr/>
        </p:nvSpPr>
        <p:spPr>
          <a:xfrm>
            <a:off x="6382512" y="360730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44" name="Text 142"/>
          <p:cNvSpPr/>
          <p:nvPr/>
        </p:nvSpPr>
        <p:spPr>
          <a:xfrm>
            <a:off x="6492240" y="363474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36</a:t>
            </a:r>
            <a:endParaRPr lang="en-US" sz="900" dirty="0"/>
          </a:p>
        </p:txBody>
      </p:sp>
      <p:sp>
        <p:nvSpPr>
          <p:cNvPr id="145" name="Text 143"/>
          <p:cNvSpPr/>
          <p:nvPr/>
        </p:nvSpPr>
        <p:spPr>
          <a:xfrm>
            <a:off x="6382512" y="363474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R$ 5.850,00</a:t>
            </a:r>
            <a:endParaRPr lang="en-US" sz="900" dirty="0"/>
          </a:p>
        </p:txBody>
      </p:sp>
      <p:sp>
        <p:nvSpPr>
          <p:cNvPr id="146" name="Shape 144"/>
          <p:cNvSpPr/>
          <p:nvPr/>
        </p:nvSpPr>
        <p:spPr>
          <a:xfrm>
            <a:off x="6382512" y="383133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47" name="Text 145"/>
          <p:cNvSpPr/>
          <p:nvPr/>
        </p:nvSpPr>
        <p:spPr>
          <a:xfrm>
            <a:off x="6492240" y="385876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37</a:t>
            </a:r>
            <a:endParaRPr lang="en-US" sz="900" dirty="0"/>
          </a:p>
        </p:txBody>
      </p:sp>
      <p:sp>
        <p:nvSpPr>
          <p:cNvPr id="148" name="Text 146"/>
          <p:cNvSpPr/>
          <p:nvPr/>
        </p:nvSpPr>
        <p:spPr>
          <a:xfrm>
            <a:off x="6382512" y="385876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49" name="Shape 147"/>
          <p:cNvSpPr/>
          <p:nvPr/>
        </p:nvSpPr>
        <p:spPr>
          <a:xfrm>
            <a:off x="6382512" y="405536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0" name="Text 148"/>
          <p:cNvSpPr/>
          <p:nvPr/>
        </p:nvSpPr>
        <p:spPr>
          <a:xfrm>
            <a:off x="6492240" y="408279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38</a:t>
            </a:r>
            <a:endParaRPr lang="en-US" sz="900" dirty="0"/>
          </a:p>
        </p:txBody>
      </p:sp>
      <p:sp>
        <p:nvSpPr>
          <p:cNvPr id="151" name="Text 149"/>
          <p:cNvSpPr/>
          <p:nvPr/>
        </p:nvSpPr>
        <p:spPr>
          <a:xfrm>
            <a:off x="6382512" y="408279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2" name="Shape 150"/>
          <p:cNvSpPr/>
          <p:nvPr/>
        </p:nvSpPr>
        <p:spPr>
          <a:xfrm>
            <a:off x="6382512" y="427939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3" name="Text 151"/>
          <p:cNvSpPr/>
          <p:nvPr/>
        </p:nvSpPr>
        <p:spPr>
          <a:xfrm>
            <a:off x="6492240" y="430682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39</a:t>
            </a:r>
            <a:endParaRPr lang="en-US" sz="900" dirty="0"/>
          </a:p>
        </p:txBody>
      </p:sp>
      <p:sp>
        <p:nvSpPr>
          <p:cNvPr id="154" name="Text 152"/>
          <p:cNvSpPr/>
          <p:nvPr/>
        </p:nvSpPr>
        <p:spPr>
          <a:xfrm>
            <a:off x="6382512" y="430682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5" name="Shape 153"/>
          <p:cNvSpPr/>
          <p:nvPr/>
        </p:nvSpPr>
        <p:spPr>
          <a:xfrm>
            <a:off x="6382512" y="4503420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56" name="Text 154"/>
          <p:cNvSpPr/>
          <p:nvPr/>
        </p:nvSpPr>
        <p:spPr>
          <a:xfrm>
            <a:off x="6492240" y="453085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40</a:t>
            </a:r>
            <a:endParaRPr lang="en-US" sz="900" dirty="0"/>
          </a:p>
        </p:txBody>
      </p:sp>
      <p:sp>
        <p:nvSpPr>
          <p:cNvPr id="157" name="Text 155"/>
          <p:cNvSpPr/>
          <p:nvPr/>
        </p:nvSpPr>
        <p:spPr>
          <a:xfrm>
            <a:off x="6382512" y="453085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58" name="Shape 156"/>
          <p:cNvSpPr/>
          <p:nvPr/>
        </p:nvSpPr>
        <p:spPr>
          <a:xfrm>
            <a:off x="6382512" y="4727448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59" name="Text 157"/>
          <p:cNvSpPr/>
          <p:nvPr/>
        </p:nvSpPr>
        <p:spPr>
          <a:xfrm>
            <a:off x="6492240" y="475488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41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6382512" y="475488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1" name="Shape 159"/>
          <p:cNvSpPr/>
          <p:nvPr/>
        </p:nvSpPr>
        <p:spPr>
          <a:xfrm>
            <a:off x="6382512" y="4951476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2" name="Text 160"/>
          <p:cNvSpPr/>
          <p:nvPr/>
        </p:nvSpPr>
        <p:spPr>
          <a:xfrm>
            <a:off x="6492240" y="497890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42</a:t>
            </a:r>
            <a:endParaRPr lang="en-US" sz="900" dirty="0"/>
          </a:p>
        </p:txBody>
      </p:sp>
      <p:sp>
        <p:nvSpPr>
          <p:cNvPr id="163" name="Text 161"/>
          <p:cNvSpPr/>
          <p:nvPr/>
        </p:nvSpPr>
        <p:spPr>
          <a:xfrm>
            <a:off x="6382512" y="497890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4" name="Shape 162"/>
          <p:cNvSpPr/>
          <p:nvPr/>
        </p:nvSpPr>
        <p:spPr>
          <a:xfrm>
            <a:off x="6382512" y="5175504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65" name="Text 163"/>
          <p:cNvSpPr/>
          <p:nvPr/>
        </p:nvSpPr>
        <p:spPr>
          <a:xfrm>
            <a:off x="6492240" y="520293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43</a:t>
            </a:r>
            <a:endParaRPr lang="en-US" sz="900" dirty="0"/>
          </a:p>
        </p:txBody>
      </p:sp>
      <p:sp>
        <p:nvSpPr>
          <p:cNvPr id="166" name="Text 164"/>
          <p:cNvSpPr/>
          <p:nvPr/>
        </p:nvSpPr>
        <p:spPr>
          <a:xfrm>
            <a:off x="6382512" y="520293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382512" y="5399532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68" name="Text 166"/>
          <p:cNvSpPr/>
          <p:nvPr/>
        </p:nvSpPr>
        <p:spPr>
          <a:xfrm>
            <a:off x="6492240" y="5426964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44</a:t>
            </a:r>
            <a:endParaRPr lang="en-US" sz="900" dirty="0"/>
          </a:p>
        </p:txBody>
      </p:sp>
      <p:sp>
        <p:nvSpPr>
          <p:cNvPr id="169" name="Text 167"/>
          <p:cNvSpPr/>
          <p:nvPr/>
        </p:nvSpPr>
        <p:spPr>
          <a:xfrm>
            <a:off x="6382512" y="5426964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0" name="Shape 168"/>
          <p:cNvSpPr/>
          <p:nvPr/>
        </p:nvSpPr>
        <p:spPr>
          <a:xfrm>
            <a:off x="6382512" y="5623560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71" name="Text 169"/>
          <p:cNvSpPr/>
          <p:nvPr/>
        </p:nvSpPr>
        <p:spPr>
          <a:xfrm>
            <a:off x="6492240" y="5650992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45</a:t>
            </a:r>
            <a:endParaRPr lang="en-US" sz="900" dirty="0"/>
          </a:p>
        </p:txBody>
      </p:sp>
      <p:sp>
        <p:nvSpPr>
          <p:cNvPr id="172" name="Text 170"/>
          <p:cNvSpPr/>
          <p:nvPr/>
        </p:nvSpPr>
        <p:spPr>
          <a:xfrm>
            <a:off x="6382512" y="5650992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3" name="Shape 171"/>
          <p:cNvSpPr/>
          <p:nvPr/>
        </p:nvSpPr>
        <p:spPr>
          <a:xfrm>
            <a:off x="6382512" y="5847588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74" name="Text 172"/>
          <p:cNvSpPr/>
          <p:nvPr/>
        </p:nvSpPr>
        <p:spPr>
          <a:xfrm>
            <a:off x="6492240" y="5875020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46</a:t>
            </a:r>
            <a:endParaRPr lang="en-US" sz="900" dirty="0"/>
          </a:p>
        </p:txBody>
      </p:sp>
      <p:sp>
        <p:nvSpPr>
          <p:cNvPr id="175" name="Text 173"/>
          <p:cNvSpPr/>
          <p:nvPr/>
        </p:nvSpPr>
        <p:spPr>
          <a:xfrm>
            <a:off x="6382512" y="5875020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6" name="Shape 174"/>
          <p:cNvSpPr/>
          <p:nvPr/>
        </p:nvSpPr>
        <p:spPr>
          <a:xfrm>
            <a:off x="6382512" y="6071616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77" name="Text 175"/>
          <p:cNvSpPr/>
          <p:nvPr/>
        </p:nvSpPr>
        <p:spPr>
          <a:xfrm>
            <a:off x="6492240" y="6099048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47</a:t>
            </a:r>
            <a:endParaRPr lang="en-US" sz="900" dirty="0"/>
          </a:p>
        </p:txBody>
      </p:sp>
      <p:sp>
        <p:nvSpPr>
          <p:cNvPr id="178" name="Text 176"/>
          <p:cNvSpPr/>
          <p:nvPr/>
        </p:nvSpPr>
        <p:spPr>
          <a:xfrm>
            <a:off x="6382512" y="6099048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79" name="Shape 177"/>
          <p:cNvSpPr/>
          <p:nvPr/>
        </p:nvSpPr>
        <p:spPr>
          <a:xfrm>
            <a:off x="6382512" y="6295644"/>
            <a:ext cx="5394960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p/>
        </p:txBody>
      </p:sp>
      <p:sp>
        <p:nvSpPr>
          <p:cNvPr id="180" name="Text 178"/>
          <p:cNvSpPr/>
          <p:nvPr/>
        </p:nvSpPr>
        <p:spPr>
          <a:xfrm>
            <a:off x="6492240" y="6323076"/>
            <a:ext cx="292608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48</a:t>
            </a:r>
            <a:endParaRPr lang="en-US" sz="900" dirty="0"/>
          </a:p>
        </p:txBody>
      </p:sp>
      <p:sp>
        <p:nvSpPr>
          <p:cNvPr id="181" name="Text 179"/>
          <p:cNvSpPr/>
          <p:nvPr/>
        </p:nvSpPr>
        <p:spPr>
          <a:xfrm>
            <a:off x="6382512" y="6323076"/>
            <a:ext cx="5303520" cy="1874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R$ 6.025,50</a:t>
            </a:r>
            <a:endParaRPr lang="en-US" sz="900" dirty="0"/>
          </a:p>
        </p:txBody>
      </p:sp>
      <p:sp>
        <p:nvSpPr>
          <p:cNvPr id="182" name="Shape 180"/>
          <p:cNvSpPr/>
          <p:nvPr/>
        </p:nvSpPr>
        <p:spPr>
          <a:xfrm>
            <a:off x="6382512" y="6519672"/>
            <a:ext cx="539496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p/>
        </p:txBody>
      </p:sp>
      <p:sp>
        <p:nvSpPr>
          <p:cNvPr id="183" name="Shape 181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184" name="Text 182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Observações importantes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Trata-se de uma cotação indicativa.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5564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47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14400" y="184708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Esta proposta inclui seguro.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505456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2505456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 valores informados são projeções baseadas no estudo do histórico de contemplações do grupo selecionado.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163824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638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4400" y="3163824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Parcela reduzida em 30% até a contemplação, conforme condições previamente estabelecidas.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822192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2219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estudo considera que o cliente possui os recursos para o lance e as parcelas pré-contemplação, aplicados em CDI até a contemplação.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480560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480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4480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 valor de crédito contratado, as parcelas e os lances serão corrigidos anualmente a 3% pré-fixados.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5047488"/>
            <a:ext cx="11338560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5138928"/>
            <a:ext cx="292608" cy="292608"/>
          </a:xfrm>
          <a:prstGeom prst="ellipse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389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5138928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operação está sujeita à análise e aprovação da administradora.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365760" y="914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Fale com a nossa equipe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Leblon  |  RJ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Ataulfo de Paiva, 204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201  •  CEP 22.440-033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01568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01568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538728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Barra da Tijuca  |  RJ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38728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das Américas, 3500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Bloco 7, sl. 226 e 227  •  CEP 22.640-102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45936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345936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83096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Itaim Bibi  |  SP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83096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Rua Bandeira Paulista, 600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92  •  CEP 04.532-001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90304" y="118872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50800" dist="25400" dir="2700000">
              <a:srgbClr val="DDDDDD">
                <a:alpha val="75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290304" y="1188720"/>
            <a:ext cx="2743200" cy="54864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427464" y="13258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Alphaville  |  SP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27464" y="173736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Av. Cauaxi, 293</a:t>
            </a:r>
            <a:endParaRPr lang="en-US" sz="9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sl. 1915 e 1916  •  CEP 06.472-001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11247120" cy="45720"/>
          </a:xfrm>
          <a:prstGeom prst="rect">
            <a:avLst/>
          </a:prstGeom>
          <a:solidFill>
            <a:srgbClr val="8CCFB4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D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Contatos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0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Marcos Silva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(21) 99876-5432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29200" y="4160520"/>
            <a:ext cx="4206240" cy="1188720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212080" y="4297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0E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Julia Santos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12080" y="4663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(11) 98765-4321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solidFill>
            <a:srgbClr val="003D29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55778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CCFB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54864"/>
          </a:xfrm>
          <a:prstGeom prst="rect">
            <a:avLst/>
          </a:prstGeom>
          <a:solidFill>
            <a:srgbClr val="004D33"/>
          </a:solidFill>
          <a:ln w="12700">
            <a:solidFill>
              <a:srgbClr val="004D3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74320" y="66019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 CAPITAL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9601200" y="660196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4444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somuscapital.com.br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Proposta Comparativa — Ana Rodrigues (CETHD)</dc:subject>
  <dc:creator>Somus Capital</dc:creator>
  <cp:lastModifiedBy>Somus Capital</cp:lastModifiedBy>
  <cp:revision>1</cp:revision>
  <dcterms:created xsi:type="dcterms:W3CDTF">2026-03-24T13:12:37Z</dcterms:created>
  <dcterms:modified xsi:type="dcterms:W3CDTF">2026-03-24T13:12:37Z</dcterms:modified>
</cp:coreProperties>
</file>