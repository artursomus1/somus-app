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ECECE"/>
          </a:solidFill>
          <a:ln/>
        </p:spPr>
      </p:sp>
      <p:sp>
        <p:nvSpPr>
          <p:cNvPr id="3" name="Shape 1"/>
          <p:cNvSpPr/>
          <p:nvPr/>
        </p:nvSpPr>
        <p:spPr>
          <a:xfrm>
            <a:off x="7982712" y="0"/>
            <a:ext cx="36576" cy="68580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CONSÓRCIO IMOBILIÁRIO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7132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Apresentação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Comparativa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Propostas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475488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cenários  —  Ana Rodrigues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5212080"/>
            <a:ext cx="3200400" cy="2743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3218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Março 2026</a:t>
            </a:r>
            <a:endParaRPr lang="en-US" sz="1100" dirty="0"/>
          </a:p>
        </p:txBody>
      </p:sp>
      <p:pic>
        <p:nvPicPr>
          <p:cNvPr id="9" name="Image 0" descr="C:\Users\Pedro Paulo Aguilar\Documents\Somus_Templates\logo_extraido\somus_logo_pr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2103120"/>
            <a:ext cx="292608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Comparativo das visões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42232" y="822960"/>
            <a:ext cx="18288" cy="5742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Shape 4"/>
          <p:cNvSpPr/>
          <p:nvPr/>
        </p:nvSpPr>
        <p:spPr>
          <a:xfrm>
            <a:off x="8055864" y="822960"/>
            <a:ext cx="18288" cy="5742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22960"/>
            <a:ext cx="3749040" cy="50292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229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no 6º mês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325880"/>
            <a:ext cx="3749040" cy="859536"/>
          </a:xfrm>
          <a:prstGeom prst="rect">
            <a:avLst/>
          </a:prstGeom>
          <a:solidFill>
            <a:srgbClr val="F4FBF7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1380744"/>
            <a:ext cx="36576" cy="749808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" y="1399032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estimada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84632" y="1618488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6º mês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20040" y="2185416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" y="2240280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" y="2258568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CET mensal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4632" y="2478024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0,6210% a.m.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20040" y="3044952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3099816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" y="3118104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CET anual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4632" y="3337560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7,71% a.a.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20040" y="3904488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" y="3959352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" y="3977640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livre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4632" y="4197096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25%  —  R$ 375.000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20040" y="4764024"/>
            <a:ext cx="3749040" cy="859536"/>
          </a:xfrm>
          <a:prstGeom prst="rect">
            <a:avLst/>
          </a:prstGeom>
          <a:solidFill>
            <a:srgbClr val="F4FBF7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" y="4818888"/>
            <a:ext cx="36576" cy="749808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" y="4837176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disponível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4632" y="5056632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R$ 1.050.000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320040" y="5623560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320040" y="5678424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" y="5696712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Alavancagem (dinheiro novo)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4632" y="5916168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R$ 675.000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233672" y="822960"/>
            <a:ext cx="3749040" cy="50292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8229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no 12º mês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233672" y="1325880"/>
            <a:ext cx="3749040" cy="859536"/>
          </a:xfrm>
          <a:prstGeom prst="rect">
            <a:avLst/>
          </a:prstGeom>
          <a:solidFill>
            <a:srgbClr val="F4FBF7"/>
          </a:solidFill>
          <a:ln/>
        </p:spPr>
      </p:sp>
      <p:sp>
        <p:nvSpPr>
          <p:cNvPr id="36" name="Shape 34"/>
          <p:cNvSpPr/>
          <p:nvPr/>
        </p:nvSpPr>
        <p:spPr>
          <a:xfrm>
            <a:off x="4233672" y="1380744"/>
            <a:ext cx="36576" cy="749808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37" name="Text 35"/>
          <p:cNvSpPr/>
          <p:nvPr/>
        </p:nvSpPr>
        <p:spPr>
          <a:xfrm>
            <a:off x="4398264" y="1399032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estimada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398264" y="1618488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12º mês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4233672" y="2185416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4233672" y="2240280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1" name="Text 39"/>
          <p:cNvSpPr/>
          <p:nvPr/>
        </p:nvSpPr>
        <p:spPr>
          <a:xfrm>
            <a:off x="4398264" y="2258568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CET mensal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398264" y="2478024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0,6854% a.m.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4233672" y="3044952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4233672" y="3099816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5" name="Text 43"/>
          <p:cNvSpPr/>
          <p:nvPr/>
        </p:nvSpPr>
        <p:spPr>
          <a:xfrm>
            <a:off x="4398264" y="3118104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CET anual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398264" y="3337560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8,52% a.a.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4233672" y="3904488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46"/>
          <p:cNvSpPr/>
          <p:nvPr/>
        </p:nvSpPr>
        <p:spPr>
          <a:xfrm>
            <a:off x="4233672" y="3959352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9" name="Text 47"/>
          <p:cNvSpPr/>
          <p:nvPr/>
        </p:nvSpPr>
        <p:spPr>
          <a:xfrm>
            <a:off x="4398264" y="3977640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livre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398264" y="4197096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15%  —  R$ 225.000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4233672" y="4764024"/>
            <a:ext cx="3749040" cy="859536"/>
          </a:xfrm>
          <a:prstGeom prst="rect">
            <a:avLst/>
          </a:prstGeom>
          <a:solidFill>
            <a:srgbClr val="F4FBF7"/>
          </a:solidFill>
          <a:ln/>
        </p:spPr>
      </p:sp>
      <p:sp>
        <p:nvSpPr>
          <p:cNvPr id="52" name="Shape 50"/>
          <p:cNvSpPr/>
          <p:nvPr/>
        </p:nvSpPr>
        <p:spPr>
          <a:xfrm>
            <a:off x="4233672" y="4818888"/>
            <a:ext cx="36576" cy="749808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53" name="Text 51"/>
          <p:cNvSpPr/>
          <p:nvPr/>
        </p:nvSpPr>
        <p:spPr>
          <a:xfrm>
            <a:off x="4398264" y="4837176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disponível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398264" y="5056632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R$ 1.050.000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4233672" y="5623560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Shape 54"/>
          <p:cNvSpPr/>
          <p:nvPr/>
        </p:nvSpPr>
        <p:spPr>
          <a:xfrm>
            <a:off x="4233672" y="5678424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7" name="Text 55"/>
          <p:cNvSpPr/>
          <p:nvPr/>
        </p:nvSpPr>
        <p:spPr>
          <a:xfrm>
            <a:off x="4398264" y="5696712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Alavancagem (dinheiro novo)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398264" y="5916168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R$ 825.000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8147304" y="822960"/>
            <a:ext cx="3749040" cy="50292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284464" y="8229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no 24º mês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8147304" y="1325880"/>
            <a:ext cx="3749040" cy="859536"/>
          </a:xfrm>
          <a:prstGeom prst="rect">
            <a:avLst/>
          </a:prstGeom>
          <a:solidFill>
            <a:srgbClr val="F4FBF7"/>
          </a:solidFill>
          <a:ln/>
        </p:spPr>
      </p:sp>
      <p:sp>
        <p:nvSpPr>
          <p:cNvPr id="62" name="Shape 60"/>
          <p:cNvSpPr/>
          <p:nvPr/>
        </p:nvSpPr>
        <p:spPr>
          <a:xfrm>
            <a:off x="8147304" y="1380744"/>
            <a:ext cx="36576" cy="749808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63" name="Text 61"/>
          <p:cNvSpPr/>
          <p:nvPr/>
        </p:nvSpPr>
        <p:spPr>
          <a:xfrm>
            <a:off x="8311896" y="1399032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estimada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8311896" y="1618488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24º mês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8147304" y="2185416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Shape 64"/>
          <p:cNvSpPr/>
          <p:nvPr/>
        </p:nvSpPr>
        <p:spPr>
          <a:xfrm>
            <a:off x="8147304" y="2240280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67" name="Text 65"/>
          <p:cNvSpPr/>
          <p:nvPr/>
        </p:nvSpPr>
        <p:spPr>
          <a:xfrm>
            <a:off x="8311896" y="2258568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CET mensal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8311896" y="2478024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0,7512% a.m.</a:t>
            </a:r>
            <a:endParaRPr lang="en-US" sz="1500" dirty="0"/>
          </a:p>
        </p:txBody>
      </p:sp>
      <p:sp>
        <p:nvSpPr>
          <p:cNvPr id="69" name="Shape 67"/>
          <p:cNvSpPr/>
          <p:nvPr/>
        </p:nvSpPr>
        <p:spPr>
          <a:xfrm>
            <a:off x="8147304" y="3044952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Shape 68"/>
          <p:cNvSpPr/>
          <p:nvPr/>
        </p:nvSpPr>
        <p:spPr>
          <a:xfrm>
            <a:off x="8147304" y="3099816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1" name="Text 69"/>
          <p:cNvSpPr/>
          <p:nvPr/>
        </p:nvSpPr>
        <p:spPr>
          <a:xfrm>
            <a:off x="8311896" y="3118104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CET anual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8311896" y="3337560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9,38% a.a.</a:t>
            </a:r>
            <a:endParaRPr lang="en-US" sz="1500" dirty="0"/>
          </a:p>
        </p:txBody>
      </p:sp>
      <p:sp>
        <p:nvSpPr>
          <p:cNvPr id="73" name="Shape 71"/>
          <p:cNvSpPr/>
          <p:nvPr/>
        </p:nvSpPr>
        <p:spPr>
          <a:xfrm>
            <a:off x="8147304" y="3904488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Shape 72"/>
          <p:cNvSpPr/>
          <p:nvPr/>
        </p:nvSpPr>
        <p:spPr>
          <a:xfrm>
            <a:off x="8147304" y="3959352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5" name="Text 73"/>
          <p:cNvSpPr/>
          <p:nvPr/>
        </p:nvSpPr>
        <p:spPr>
          <a:xfrm>
            <a:off x="8311896" y="3977640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livre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8311896" y="4197096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5%  —  R$ 75.000</a:t>
            </a:r>
            <a:endParaRPr lang="en-US" sz="1500" dirty="0"/>
          </a:p>
        </p:txBody>
      </p:sp>
      <p:sp>
        <p:nvSpPr>
          <p:cNvPr id="77" name="Shape 75"/>
          <p:cNvSpPr/>
          <p:nvPr/>
        </p:nvSpPr>
        <p:spPr>
          <a:xfrm>
            <a:off x="8147304" y="4764024"/>
            <a:ext cx="3749040" cy="859536"/>
          </a:xfrm>
          <a:prstGeom prst="rect">
            <a:avLst/>
          </a:prstGeom>
          <a:solidFill>
            <a:srgbClr val="F4FBF7"/>
          </a:solidFill>
          <a:ln/>
        </p:spPr>
      </p:sp>
      <p:sp>
        <p:nvSpPr>
          <p:cNvPr id="78" name="Shape 76"/>
          <p:cNvSpPr/>
          <p:nvPr/>
        </p:nvSpPr>
        <p:spPr>
          <a:xfrm>
            <a:off x="8147304" y="4818888"/>
            <a:ext cx="36576" cy="749808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79" name="Text 77"/>
          <p:cNvSpPr/>
          <p:nvPr/>
        </p:nvSpPr>
        <p:spPr>
          <a:xfrm>
            <a:off x="8311896" y="4837176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disponível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8311896" y="5056632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R$ 1.050.000</a:t>
            </a:r>
            <a:endParaRPr lang="en-US" sz="1800" dirty="0"/>
          </a:p>
        </p:txBody>
      </p:sp>
      <p:sp>
        <p:nvSpPr>
          <p:cNvPr id="81" name="Shape 79"/>
          <p:cNvSpPr/>
          <p:nvPr/>
        </p:nvSpPr>
        <p:spPr>
          <a:xfrm>
            <a:off x="8147304" y="5623560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2" name="Shape 80"/>
          <p:cNvSpPr/>
          <p:nvPr/>
        </p:nvSpPr>
        <p:spPr>
          <a:xfrm>
            <a:off x="8147304" y="5678424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83" name="Text 81"/>
          <p:cNvSpPr/>
          <p:nvPr/>
        </p:nvSpPr>
        <p:spPr>
          <a:xfrm>
            <a:off x="8311896" y="5696712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Alavancagem (dinheiro novo)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8311896" y="5916168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R$ 975.000</a:t>
            </a:r>
            <a:endParaRPr lang="en-US" sz="1500" dirty="0"/>
          </a:p>
        </p:txBody>
      </p:sp>
      <p:sp>
        <p:nvSpPr>
          <p:cNvPr id="85" name="Shape 83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Operação 1  —  Contemplação no 6º mês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086600" y="822960"/>
            <a:ext cx="27432" cy="557784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VALORES EM REAIS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52728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252728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total da carta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1481328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R$ 1.500.000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1792" y="1911096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total da carta de crédito contratada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286000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228600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embutido (30%)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21792" y="2514600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R$ 450.000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1792" y="2944368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Retirado da carta para uso como lance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319272"/>
            <a:ext cx="6400800" cy="978408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319272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331927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disponível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21792" y="3547872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R$ 1.050.000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1792" y="397764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Após desconto do lance embutido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7200" y="4325112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4352544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4352544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livre (25%)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1792" y="4581144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R$ 375.000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1792" y="5010912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Pago do próprio bolso como lance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" y="5358384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5385816"/>
            <a:ext cx="36576" cy="850392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" y="5385816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Alavancagem (dinheiro novo)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1792" y="5614416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R$ 675.000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21792" y="6044184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efetivo além do capital investido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406640" y="82296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TAXAS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406640" y="109728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5" name="Shape 33"/>
          <p:cNvSpPr/>
          <p:nvPr/>
        </p:nvSpPr>
        <p:spPr>
          <a:xfrm>
            <a:off x="7406640" y="123444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6" name="Text 34"/>
          <p:cNvSpPr/>
          <p:nvPr/>
        </p:nvSpPr>
        <p:spPr>
          <a:xfrm>
            <a:off x="7571232" y="123444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Taxa de administração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571232" y="143560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19,00%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7406640" y="189280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9" name="Shape 37"/>
          <p:cNvSpPr/>
          <p:nvPr/>
        </p:nvSpPr>
        <p:spPr>
          <a:xfrm>
            <a:off x="7406640" y="201168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0" name="Text 38"/>
          <p:cNvSpPr/>
          <p:nvPr/>
        </p:nvSpPr>
        <p:spPr>
          <a:xfrm>
            <a:off x="7571232" y="201168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Fundo de reserva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571232" y="221284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3,00%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7406640" y="267004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3" name="Text 41"/>
          <p:cNvSpPr/>
          <p:nvPr/>
        </p:nvSpPr>
        <p:spPr>
          <a:xfrm>
            <a:off x="7406640" y="27889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PRAZOS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406640" y="306324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5" name="Shape 43"/>
          <p:cNvSpPr/>
          <p:nvPr/>
        </p:nvSpPr>
        <p:spPr>
          <a:xfrm>
            <a:off x="7406640" y="320040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6" name="Text 44"/>
          <p:cNvSpPr/>
          <p:nvPr/>
        </p:nvSpPr>
        <p:spPr>
          <a:xfrm>
            <a:off x="7571232" y="320040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Prazo total da operação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571232" y="340156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48 meses</a:t>
            </a:r>
            <a:endParaRPr lang="en-US" sz="2200" dirty="0"/>
          </a:p>
        </p:txBody>
      </p:sp>
      <p:sp>
        <p:nvSpPr>
          <p:cNvPr id="48" name="Shape 46"/>
          <p:cNvSpPr/>
          <p:nvPr/>
        </p:nvSpPr>
        <p:spPr>
          <a:xfrm>
            <a:off x="7406640" y="384048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9" name="Shape 47"/>
          <p:cNvSpPr/>
          <p:nvPr/>
        </p:nvSpPr>
        <p:spPr>
          <a:xfrm>
            <a:off x="7406640" y="3959352"/>
            <a:ext cx="36576" cy="566928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50" name="Text 48"/>
          <p:cNvSpPr/>
          <p:nvPr/>
        </p:nvSpPr>
        <p:spPr>
          <a:xfrm>
            <a:off x="7571232" y="395935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Expectativa de contemplação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571232" y="41605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6º mês</a:t>
            </a:r>
            <a:endParaRPr lang="en-US" sz="2200" dirty="0"/>
          </a:p>
        </p:txBody>
      </p:sp>
      <p:sp>
        <p:nvSpPr>
          <p:cNvPr id="52" name="Shape 50"/>
          <p:cNvSpPr/>
          <p:nvPr/>
        </p:nvSpPr>
        <p:spPr>
          <a:xfrm>
            <a:off x="7406640" y="4599432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3" name="Shape 51"/>
          <p:cNvSpPr/>
          <p:nvPr/>
        </p:nvSpPr>
        <p:spPr>
          <a:xfrm>
            <a:off x="7406640" y="4709160"/>
            <a:ext cx="4389120" cy="713232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54" name="Shape 52"/>
          <p:cNvSpPr/>
          <p:nvPr/>
        </p:nvSpPr>
        <p:spPr>
          <a:xfrm>
            <a:off x="7406640" y="4782312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5" name="Text 53"/>
          <p:cNvSpPr/>
          <p:nvPr/>
        </p:nvSpPr>
        <p:spPr>
          <a:xfrm>
            <a:off x="7571232" y="478231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 Efetivo Total (CET)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571232" y="498348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7,71% a.a.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7406640" y="5458968"/>
            <a:ext cx="4389120" cy="713232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58" name="Shape 56"/>
          <p:cNvSpPr/>
          <p:nvPr/>
        </p:nvSpPr>
        <p:spPr>
          <a:xfrm>
            <a:off x="7406640" y="553212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9" name="Text 57"/>
          <p:cNvSpPr/>
          <p:nvPr/>
        </p:nvSpPr>
        <p:spPr>
          <a:xfrm>
            <a:off x="7571232" y="553212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 Efetivo Total (CET)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571232" y="573328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0,6210% a.m.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4D3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Operação 1  —  Contemplação no 6º mês  —  Tabela de parcelas  (1/1)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 pré-fixada de 3%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146304" cy="14630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6400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pré-contemplação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9904" y="868680"/>
            <a:ext cx="18288" cy="57150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11480" y="117957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R$ 12.300,00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" y="140360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R$ 12.300,00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0" name="Shape 18"/>
          <p:cNvSpPr/>
          <p:nvPr/>
        </p:nvSpPr>
        <p:spPr>
          <a:xfrm>
            <a:off x="411480" y="162763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R$ 12.300,00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4" name="Shape 22"/>
          <p:cNvSpPr/>
          <p:nvPr/>
        </p:nvSpPr>
        <p:spPr>
          <a:xfrm>
            <a:off x="411480" y="185166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R$ 12.300,00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8" name="Shape 26"/>
          <p:cNvSpPr/>
          <p:nvPr/>
        </p:nvSpPr>
        <p:spPr>
          <a:xfrm>
            <a:off x="411480" y="207568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9" name="Text 27"/>
          <p:cNvSpPr/>
          <p:nvPr/>
        </p:nvSpPr>
        <p:spPr>
          <a:xfrm>
            <a:off x="521208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R$ 12.300,00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2" name="Shape 30"/>
          <p:cNvSpPr/>
          <p:nvPr/>
        </p:nvSpPr>
        <p:spPr>
          <a:xfrm>
            <a:off x="411480" y="229971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R$ 12.300,00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6" name="Text 34"/>
          <p:cNvSpPr/>
          <p:nvPr/>
        </p:nvSpPr>
        <p:spPr>
          <a:xfrm>
            <a:off x="521208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9" name="Text 37"/>
          <p:cNvSpPr/>
          <p:nvPr/>
        </p:nvSpPr>
        <p:spPr>
          <a:xfrm>
            <a:off x="521208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1480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11480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2" name="Text 40"/>
          <p:cNvSpPr/>
          <p:nvPr/>
        </p:nvSpPr>
        <p:spPr>
          <a:xfrm>
            <a:off x="521208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11480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1480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5" name="Text 43"/>
          <p:cNvSpPr/>
          <p:nvPr/>
        </p:nvSpPr>
        <p:spPr>
          <a:xfrm>
            <a:off x="521208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8" name="Text 46"/>
          <p:cNvSpPr/>
          <p:nvPr/>
        </p:nvSpPr>
        <p:spPr>
          <a:xfrm>
            <a:off x="521208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11480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1480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1" name="Text 49"/>
          <p:cNvSpPr/>
          <p:nvPr/>
        </p:nvSpPr>
        <p:spPr>
          <a:xfrm>
            <a:off x="521208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11480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11480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4" name="Text 52"/>
          <p:cNvSpPr/>
          <p:nvPr/>
        </p:nvSpPr>
        <p:spPr>
          <a:xfrm>
            <a:off x="521208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11480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11480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7" name="Text 55"/>
          <p:cNvSpPr/>
          <p:nvPr/>
        </p:nvSpPr>
        <p:spPr>
          <a:xfrm>
            <a:off x="521208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0" name="Text 58"/>
          <p:cNvSpPr/>
          <p:nvPr/>
        </p:nvSpPr>
        <p:spPr>
          <a:xfrm>
            <a:off x="521208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11480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1480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3" name="Text 61"/>
          <p:cNvSpPr/>
          <p:nvPr/>
        </p:nvSpPr>
        <p:spPr>
          <a:xfrm>
            <a:off x="521208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11480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11480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6" name="Text 64"/>
          <p:cNvSpPr/>
          <p:nvPr/>
        </p:nvSpPr>
        <p:spPr>
          <a:xfrm>
            <a:off x="521208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11480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11480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9" name="Text 67"/>
          <p:cNvSpPr/>
          <p:nvPr/>
        </p:nvSpPr>
        <p:spPr>
          <a:xfrm>
            <a:off x="521208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11480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2" name="Text 70"/>
          <p:cNvSpPr/>
          <p:nvPr/>
        </p:nvSpPr>
        <p:spPr>
          <a:xfrm>
            <a:off x="521208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11480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11480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5" name="Text 73"/>
          <p:cNvSpPr/>
          <p:nvPr/>
        </p:nvSpPr>
        <p:spPr>
          <a:xfrm>
            <a:off x="521208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11480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11480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8" name="Text 76"/>
          <p:cNvSpPr/>
          <p:nvPr/>
        </p:nvSpPr>
        <p:spPr>
          <a:xfrm>
            <a:off x="521208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11480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11480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1" name="Text 79"/>
          <p:cNvSpPr/>
          <p:nvPr/>
        </p:nvSpPr>
        <p:spPr>
          <a:xfrm>
            <a:off x="521208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11480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11480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4" name="Text 82"/>
          <p:cNvSpPr/>
          <p:nvPr/>
        </p:nvSpPr>
        <p:spPr>
          <a:xfrm>
            <a:off x="521208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23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411480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11480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7" name="Text 85"/>
          <p:cNvSpPr/>
          <p:nvPr/>
        </p:nvSpPr>
        <p:spPr>
          <a:xfrm>
            <a:off x="521208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24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411480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411480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0" name="Shape 88"/>
          <p:cNvSpPr/>
          <p:nvPr/>
        </p:nvSpPr>
        <p:spPr>
          <a:xfrm>
            <a:off x="6382512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91" name="Text 89"/>
          <p:cNvSpPr/>
          <p:nvPr/>
        </p:nvSpPr>
        <p:spPr>
          <a:xfrm>
            <a:off x="6492240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6382512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6492240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25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6382512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6382512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6" name="Text 94"/>
          <p:cNvSpPr/>
          <p:nvPr/>
        </p:nvSpPr>
        <p:spPr>
          <a:xfrm>
            <a:off x="6492240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26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6382512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382512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9" name="Text 97"/>
          <p:cNvSpPr/>
          <p:nvPr/>
        </p:nvSpPr>
        <p:spPr>
          <a:xfrm>
            <a:off x="6492240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27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6382512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382512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2" name="Text 100"/>
          <p:cNvSpPr/>
          <p:nvPr/>
        </p:nvSpPr>
        <p:spPr>
          <a:xfrm>
            <a:off x="6492240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28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382512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382512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5" name="Text 103"/>
          <p:cNvSpPr/>
          <p:nvPr/>
        </p:nvSpPr>
        <p:spPr>
          <a:xfrm>
            <a:off x="6492240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29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6382512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6382512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8" name="Text 106"/>
          <p:cNvSpPr/>
          <p:nvPr/>
        </p:nvSpPr>
        <p:spPr>
          <a:xfrm>
            <a:off x="6492240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30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382512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382512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1" name="Text 109"/>
          <p:cNvSpPr/>
          <p:nvPr/>
        </p:nvSpPr>
        <p:spPr>
          <a:xfrm>
            <a:off x="6492240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31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6382512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382512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4" name="Text 112"/>
          <p:cNvSpPr/>
          <p:nvPr/>
        </p:nvSpPr>
        <p:spPr>
          <a:xfrm>
            <a:off x="6492240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32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6382512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6382512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7" name="Text 115"/>
          <p:cNvSpPr/>
          <p:nvPr/>
        </p:nvSpPr>
        <p:spPr>
          <a:xfrm>
            <a:off x="6492240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33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6382512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6382512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0" name="Text 118"/>
          <p:cNvSpPr/>
          <p:nvPr/>
        </p:nvSpPr>
        <p:spPr>
          <a:xfrm>
            <a:off x="6492240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34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382512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6382512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3" name="Text 121"/>
          <p:cNvSpPr/>
          <p:nvPr/>
        </p:nvSpPr>
        <p:spPr>
          <a:xfrm>
            <a:off x="6492240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35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6382512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6382512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6" name="Text 124"/>
          <p:cNvSpPr/>
          <p:nvPr/>
        </p:nvSpPr>
        <p:spPr>
          <a:xfrm>
            <a:off x="6492240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36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6382512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6382512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9" name="Text 127"/>
          <p:cNvSpPr/>
          <p:nvPr/>
        </p:nvSpPr>
        <p:spPr>
          <a:xfrm>
            <a:off x="6492240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37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6382512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6382512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2" name="Text 130"/>
          <p:cNvSpPr/>
          <p:nvPr/>
        </p:nvSpPr>
        <p:spPr>
          <a:xfrm>
            <a:off x="6492240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38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6382512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6382512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5" name="Text 133"/>
          <p:cNvSpPr/>
          <p:nvPr/>
        </p:nvSpPr>
        <p:spPr>
          <a:xfrm>
            <a:off x="6492240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39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6382512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6382512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8" name="Text 136"/>
          <p:cNvSpPr/>
          <p:nvPr/>
        </p:nvSpPr>
        <p:spPr>
          <a:xfrm>
            <a:off x="6492240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40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6382512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6382512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1" name="Text 139"/>
          <p:cNvSpPr/>
          <p:nvPr/>
        </p:nvSpPr>
        <p:spPr>
          <a:xfrm>
            <a:off x="6492240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41</a:t>
            </a:r>
            <a:endParaRPr lang="en-US" sz="900" dirty="0"/>
          </a:p>
        </p:txBody>
      </p:sp>
      <p:sp>
        <p:nvSpPr>
          <p:cNvPr id="142" name="Text 140"/>
          <p:cNvSpPr/>
          <p:nvPr/>
        </p:nvSpPr>
        <p:spPr>
          <a:xfrm>
            <a:off x="6382512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6382512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44" name="Text 142"/>
          <p:cNvSpPr/>
          <p:nvPr/>
        </p:nvSpPr>
        <p:spPr>
          <a:xfrm>
            <a:off x="6492240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42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6382512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6382512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7" name="Text 145"/>
          <p:cNvSpPr/>
          <p:nvPr/>
        </p:nvSpPr>
        <p:spPr>
          <a:xfrm>
            <a:off x="6492240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43</a:t>
            </a:r>
            <a:endParaRPr lang="en-US" sz="900" dirty="0"/>
          </a:p>
        </p:txBody>
      </p:sp>
      <p:sp>
        <p:nvSpPr>
          <p:cNvPr id="148" name="Text 146"/>
          <p:cNvSpPr/>
          <p:nvPr/>
        </p:nvSpPr>
        <p:spPr>
          <a:xfrm>
            <a:off x="6382512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6382512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0" name="Text 148"/>
          <p:cNvSpPr/>
          <p:nvPr/>
        </p:nvSpPr>
        <p:spPr>
          <a:xfrm>
            <a:off x="6492240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44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6382512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6382512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3" name="Text 151"/>
          <p:cNvSpPr/>
          <p:nvPr/>
        </p:nvSpPr>
        <p:spPr>
          <a:xfrm>
            <a:off x="6492240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45</a:t>
            </a:r>
            <a:endParaRPr lang="en-US" sz="900" dirty="0"/>
          </a:p>
        </p:txBody>
      </p:sp>
      <p:sp>
        <p:nvSpPr>
          <p:cNvPr id="154" name="Text 152"/>
          <p:cNvSpPr/>
          <p:nvPr/>
        </p:nvSpPr>
        <p:spPr>
          <a:xfrm>
            <a:off x="6382512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6382512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6" name="Text 154"/>
          <p:cNvSpPr/>
          <p:nvPr/>
        </p:nvSpPr>
        <p:spPr>
          <a:xfrm>
            <a:off x="6492240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46</a:t>
            </a:r>
            <a:endParaRPr lang="en-US" sz="900" dirty="0"/>
          </a:p>
        </p:txBody>
      </p:sp>
      <p:sp>
        <p:nvSpPr>
          <p:cNvPr id="157" name="Text 155"/>
          <p:cNvSpPr/>
          <p:nvPr/>
        </p:nvSpPr>
        <p:spPr>
          <a:xfrm>
            <a:off x="6382512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6382512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9" name="Text 157"/>
          <p:cNvSpPr/>
          <p:nvPr/>
        </p:nvSpPr>
        <p:spPr>
          <a:xfrm>
            <a:off x="6492240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47</a:t>
            </a:r>
            <a:endParaRPr lang="en-US" sz="900" dirty="0"/>
          </a:p>
        </p:txBody>
      </p:sp>
      <p:sp>
        <p:nvSpPr>
          <p:cNvPr id="160" name="Text 158"/>
          <p:cNvSpPr/>
          <p:nvPr/>
        </p:nvSpPr>
        <p:spPr>
          <a:xfrm>
            <a:off x="6382512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6382512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2" name="Text 160"/>
          <p:cNvSpPr/>
          <p:nvPr/>
        </p:nvSpPr>
        <p:spPr>
          <a:xfrm>
            <a:off x="6492240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48</a:t>
            </a:r>
            <a:endParaRPr lang="en-US" sz="900" dirty="0"/>
          </a:p>
        </p:txBody>
      </p:sp>
      <p:sp>
        <p:nvSpPr>
          <p:cNvPr id="163" name="Text 161"/>
          <p:cNvSpPr/>
          <p:nvPr/>
        </p:nvSpPr>
        <p:spPr>
          <a:xfrm>
            <a:off x="6382512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64" name="Shape 162"/>
          <p:cNvSpPr/>
          <p:nvPr/>
        </p:nvSpPr>
        <p:spPr>
          <a:xfrm>
            <a:off x="6382512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65" name="Shape 163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167" name="Text 165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Operação 2  —  Contemplação no 12º mês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086600" y="822960"/>
            <a:ext cx="27432" cy="557784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VALORES EM REAIS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52728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252728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total da carta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1481328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R$ 1.500.000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1792" y="1911096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total da carta de crédito contratada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286000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228600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embutido (30%)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21792" y="2514600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R$ 450.000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1792" y="2944368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Retirado da carta para uso como lance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319272"/>
            <a:ext cx="6400800" cy="978408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319272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331927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disponível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21792" y="3547872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R$ 1.050.000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1792" y="397764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Após desconto do lance embutido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7200" y="4325112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4352544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4352544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livre (15%)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1792" y="4581144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R$ 225.000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1792" y="5010912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Pago do próprio bolso como lance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" y="5358384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5385816"/>
            <a:ext cx="36576" cy="850392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" y="5385816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Alavancagem (dinheiro novo)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1792" y="5614416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R$ 825.000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21792" y="6044184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efetivo além do capital investido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406640" y="82296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TAXAS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406640" y="109728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5" name="Shape 33"/>
          <p:cNvSpPr/>
          <p:nvPr/>
        </p:nvSpPr>
        <p:spPr>
          <a:xfrm>
            <a:off x="7406640" y="123444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6" name="Text 34"/>
          <p:cNvSpPr/>
          <p:nvPr/>
        </p:nvSpPr>
        <p:spPr>
          <a:xfrm>
            <a:off x="7571232" y="123444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Taxa de administração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571232" y="143560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19,00%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7406640" y="189280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9" name="Shape 37"/>
          <p:cNvSpPr/>
          <p:nvPr/>
        </p:nvSpPr>
        <p:spPr>
          <a:xfrm>
            <a:off x="7406640" y="201168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0" name="Text 38"/>
          <p:cNvSpPr/>
          <p:nvPr/>
        </p:nvSpPr>
        <p:spPr>
          <a:xfrm>
            <a:off x="7571232" y="201168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Fundo de reserva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571232" y="221284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3,00%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7406640" y="267004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3" name="Text 41"/>
          <p:cNvSpPr/>
          <p:nvPr/>
        </p:nvSpPr>
        <p:spPr>
          <a:xfrm>
            <a:off x="7406640" y="27889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PRAZOS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406640" y="306324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5" name="Shape 43"/>
          <p:cNvSpPr/>
          <p:nvPr/>
        </p:nvSpPr>
        <p:spPr>
          <a:xfrm>
            <a:off x="7406640" y="320040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6" name="Text 44"/>
          <p:cNvSpPr/>
          <p:nvPr/>
        </p:nvSpPr>
        <p:spPr>
          <a:xfrm>
            <a:off x="7571232" y="320040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Prazo total da operação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571232" y="340156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48 meses</a:t>
            </a:r>
            <a:endParaRPr lang="en-US" sz="2200" dirty="0"/>
          </a:p>
        </p:txBody>
      </p:sp>
      <p:sp>
        <p:nvSpPr>
          <p:cNvPr id="48" name="Shape 46"/>
          <p:cNvSpPr/>
          <p:nvPr/>
        </p:nvSpPr>
        <p:spPr>
          <a:xfrm>
            <a:off x="7406640" y="384048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9" name="Shape 47"/>
          <p:cNvSpPr/>
          <p:nvPr/>
        </p:nvSpPr>
        <p:spPr>
          <a:xfrm>
            <a:off x="7406640" y="3959352"/>
            <a:ext cx="36576" cy="566928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50" name="Text 48"/>
          <p:cNvSpPr/>
          <p:nvPr/>
        </p:nvSpPr>
        <p:spPr>
          <a:xfrm>
            <a:off x="7571232" y="395935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Expectativa de contemplação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571232" y="41605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12º mês</a:t>
            </a:r>
            <a:endParaRPr lang="en-US" sz="2200" dirty="0"/>
          </a:p>
        </p:txBody>
      </p:sp>
      <p:sp>
        <p:nvSpPr>
          <p:cNvPr id="52" name="Shape 50"/>
          <p:cNvSpPr/>
          <p:nvPr/>
        </p:nvSpPr>
        <p:spPr>
          <a:xfrm>
            <a:off x="7406640" y="4599432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3" name="Shape 51"/>
          <p:cNvSpPr/>
          <p:nvPr/>
        </p:nvSpPr>
        <p:spPr>
          <a:xfrm>
            <a:off x="7406640" y="4709160"/>
            <a:ext cx="4389120" cy="713232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54" name="Shape 52"/>
          <p:cNvSpPr/>
          <p:nvPr/>
        </p:nvSpPr>
        <p:spPr>
          <a:xfrm>
            <a:off x="7406640" y="4782312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5" name="Text 53"/>
          <p:cNvSpPr/>
          <p:nvPr/>
        </p:nvSpPr>
        <p:spPr>
          <a:xfrm>
            <a:off x="7571232" y="478231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 Efetivo Total (CET)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571232" y="498348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8,52% a.a.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7406640" y="5458968"/>
            <a:ext cx="4389120" cy="713232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58" name="Shape 56"/>
          <p:cNvSpPr/>
          <p:nvPr/>
        </p:nvSpPr>
        <p:spPr>
          <a:xfrm>
            <a:off x="7406640" y="553212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9" name="Text 57"/>
          <p:cNvSpPr/>
          <p:nvPr/>
        </p:nvSpPr>
        <p:spPr>
          <a:xfrm>
            <a:off x="7571232" y="553212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 Efetivo Total (CET)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571232" y="573328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0,6854% a.m.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4D3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Operação 2  —  Contemplação no 12º mês  —  Tabela de parcelas  (1/1)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 pré-fixada de 3%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146304" cy="14630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6400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pré-contemplação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9904" y="868680"/>
            <a:ext cx="18288" cy="57150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11480" y="117957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" y="140360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0" name="Shape 18"/>
          <p:cNvSpPr/>
          <p:nvPr/>
        </p:nvSpPr>
        <p:spPr>
          <a:xfrm>
            <a:off x="411480" y="162763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4" name="Shape 22"/>
          <p:cNvSpPr/>
          <p:nvPr/>
        </p:nvSpPr>
        <p:spPr>
          <a:xfrm>
            <a:off x="411480" y="185166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8" name="Shape 26"/>
          <p:cNvSpPr/>
          <p:nvPr/>
        </p:nvSpPr>
        <p:spPr>
          <a:xfrm>
            <a:off x="411480" y="207568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9" name="Text 27"/>
          <p:cNvSpPr/>
          <p:nvPr/>
        </p:nvSpPr>
        <p:spPr>
          <a:xfrm>
            <a:off x="521208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2" name="Shape 30"/>
          <p:cNvSpPr/>
          <p:nvPr/>
        </p:nvSpPr>
        <p:spPr>
          <a:xfrm>
            <a:off x="411480" y="229971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6" name="Shape 34"/>
          <p:cNvSpPr/>
          <p:nvPr/>
        </p:nvSpPr>
        <p:spPr>
          <a:xfrm>
            <a:off x="411480" y="252374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7" name="Text 35"/>
          <p:cNvSpPr/>
          <p:nvPr/>
        </p:nvSpPr>
        <p:spPr>
          <a:xfrm>
            <a:off x="521208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1480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1480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0" name="Shape 38"/>
          <p:cNvSpPr/>
          <p:nvPr/>
        </p:nvSpPr>
        <p:spPr>
          <a:xfrm>
            <a:off x="411480" y="274777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1" name="Text 39"/>
          <p:cNvSpPr/>
          <p:nvPr/>
        </p:nvSpPr>
        <p:spPr>
          <a:xfrm>
            <a:off x="521208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11480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480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4" name="Shape 42"/>
          <p:cNvSpPr/>
          <p:nvPr/>
        </p:nvSpPr>
        <p:spPr>
          <a:xfrm>
            <a:off x="411480" y="297180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5" name="Text 43"/>
          <p:cNvSpPr/>
          <p:nvPr/>
        </p:nvSpPr>
        <p:spPr>
          <a:xfrm>
            <a:off x="521208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8" name="Shape 46"/>
          <p:cNvSpPr/>
          <p:nvPr/>
        </p:nvSpPr>
        <p:spPr>
          <a:xfrm>
            <a:off x="411480" y="319582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9" name="Text 47"/>
          <p:cNvSpPr/>
          <p:nvPr/>
        </p:nvSpPr>
        <p:spPr>
          <a:xfrm>
            <a:off x="521208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11480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11480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2" name="Shape 50"/>
          <p:cNvSpPr/>
          <p:nvPr/>
        </p:nvSpPr>
        <p:spPr>
          <a:xfrm>
            <a:off x="411480" y="341985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3" name="Text 51"/>
          <p:cNvSpPr/>
          <p:nvPr/>
        </p:nvSpPr>
        <p:spPr>
          <a:xfrm>
            <a:off x="521208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11480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11480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6" name="Shape 54"/>
          <p:cNvSpPr/>
          <p:nvPr/>
        </p:nvSpPr>
        <p:spPr>
          <a:xfrm>
            <a:off x="411480" y="364388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7" name="Text 55"/>
          <p:cNvSpPr/>
          <p:nvPr/>
        </p:nvSpPr>
        <p:spPr>
          <a:xfrm>
            <a:off x="521208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0" name="Text 58"/>
          <p:cNvSpPr/>
          <p:nvPr/>
        </p:nvSpPr>
        <p:spPr>
          <a:xfrm>
            <a:off x="521208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11480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1480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3" name="Text 61"/>
          <p:cNvSpPr/>
          <p:nvPr/>
        </p:nvSpPr>
        <p:spPr>
          <a:xfrm>
            <a:off x="521208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11480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11480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6" name="Text 64"/>
          <p:cNvSpPr/>
          <p:nvPr/>
        </p:nvSpPr>
        <p:spPr>
          <a:xfrm>
            <a:off x="521208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11480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11480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9" name="Text 67"/>
          <p:cNvSpPr/>
          <p:nvPr/>
        </p:nvSpPr>
        <p:spPr>
          <a:xfrm>
            <a:off x="521208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11480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2" name="Text 70"/>
          <p:cNvSpPr/>
          <p:nvPr/>
        </p:nvSpPr>
        <p:spPr>
          <a:xfrm>
            <a:off x="521208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11480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11480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5" name="Text 73"/>
          <p:cNvSpPr/>
          <p:nvPr/>
        </p:nvSpPr>
        <p:spPr>
          <a:xfrm>
            <a:off x="521208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11480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11480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8" name="Text 76"/>
          <p:cNvSpPr/>
          <p:nvPr/>
        </p:nvSpPr>
        <p:spPr>
          <a:xfrm>
            <a:off x="521208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11480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11480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1" name="Text 79"/>
          <p:cNvSpPr/>
          <p:nvPr/>
        </p:nvSpPr>
        <p:spPr>
          <a:xfrm>
            <a:off x="521208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11480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11480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4" name="Text 82"/>
          <p:cNvSpPr/>
          <p:nvPr/>
        </p:nvSpPr>
        <p:spPr>
          <a:xfrm>
            <a:off x="521208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411480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11480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7" name="Text 85"/>
          <p:cNvSpPr/>
          <p:nvPr/>
        </p:nvSpPr>
        <p:spPr>
          <a:xfrm>
            <a:off x="521208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411480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411480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0" name="Text 88"/>
          <p:cNvSpPr/>
          <p:nvPr/>
        </p:nvSpPr>
        <p:spPr>
          <a:xfrm>
            <a:off x="521208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23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411480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411480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3" name="Text 91"/>
          <p:cNvSpPr/>
          <p:nvPr/>
        </p:nvSpPr>
        <p:spPr>
          <a:xfrm>
            <a:off x="521208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24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411480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411480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6" name="Shape 94"/>
          <p:cNvSpPr/>
          <p:nvPr/>
        </p:nvSpPr>
        <p:spPr>
          <a:xfrm>
            <a:off x="6382512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97" name="Text 95"/>
          <p:cNvSpPr/>
          <p:nvPr/>
        </p:nvSpPr>
        <p:spPr>
          <a:xfrm>
            <a:off x="6492240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6382512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6492240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25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6382512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382512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2" name="Text 100"/>
          <p:cNvSpPr/>
          <p:nvPr/>
        </p:nvSpPr>
        <p:spPr>
          <a:xfrm>
            <a:off x="6492240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26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382512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382512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5" name="Text 103"/>
          <p:cNvSpPr/>
          <p:nvPr/>
        </p:nvSpPr>
        <p:spPr>
          <a:xfrm>
            <a:off x="6492240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27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6382512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6382512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8" name="Text 106"/>
          <p:cNvSpPr/>
          <p:nvPr/>
        </p:nvSpPr>
        <p:spPr>
          <a:xfrm>
            <a:off x="6492240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28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382512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382512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1" name="Text 109"/>
          <p:cNvSpPr/>
          <p:nvPr/>
        </p:nvSpPr>
        <p:spPr>
          <a:xfrm>
            <a:off x="6492240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29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6382512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382512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4" name="Text 112"/>
          <p:cNvSpPr/>
          <p:nvPr/>
        </p:nvSpPr>
        <p:spPr>
          <a:xfrm>
            <a:off x="6492240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30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6382512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6382512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7" name="Text 115"/>
          <p:cNvSpPr/>
          <p:nvPr/>
        </p:nvSpPr>
        <p:spPr>
          <a:xfrm>
            <a:off x="6492240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31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6382512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6382512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0" name="Text 118"/>
          <p:cNvSpPr/>
          <p:nvPr/>
        </p:nvSpPr>
        <p:spPr>
          <a:xfrm>
            <a:off x="6492240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32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382512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6382512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3" name="Text 121"/>
          <p:cNvSpPr/>
          <p:nvPr/>
        </p:nvSpPr>
        <p:spPr>
          <a:xfrm>
            <a:off x="6492240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33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6382512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6382512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6" name="Text 124"/>
          <p:cNvSpPr/>
          <p:nvPr/>
        </p:nvSpPr>
        <p:spPr>
          <a:xfrm>
            <a:off x="6492240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34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6382512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6382512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9" name="Text 127"/>
          <p:cNvSpPr/>
          <p:nvPr/>
        </p:nvSpPr>
        <p:spPr>
          <a:xfrm>
            <a:off x="6492240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35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6382512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6382512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2" name="Text 130"/>
          <p:cNvSpPr/>
          <p:nvPr/>
        </p:nvSpPr>
        <p:spPr>
          <a:xfrm>
            <a:off x="6492240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36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6382512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6382512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5" name="Text 133"/>
          <p:cNvSpPr/>
          <p:nvPr/>
        </p:nvSpPr>
        <p:spPr>
          <a:xfrm>
            <a:off x="6492240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37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6382512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6382512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8" name="Text 136"/>
          <p:cNvSpPr/>
          <p:nvPr/>
        </p:nvSpPr>
        <p:spPr>
          <a:xfrm>
            <a:off x="6492240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38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6382512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6382512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1" name="Text 139"/>
          <p:cNvSpPr/>
          <p:nvPr/>
        </p:nvSpPr>
        <p:spPr>
          <a:xfrm>
            <a:off x="6492240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39</a:t>
            </a:r>
            <a:endParaRPr lang="en-US" sz="900" dirty="0"/>
          </a:p>
        </p:txBody>
      </p:sp>
      <p:sp>
        <p:nvSpPr>
          <p:cNvPr id="142" name="Text 140"/>
          <p:cNvSpPr/>
          <p:nvPr/>
        </p:nvSpPr>
        <p:spPr>
          <a:xfrm>
            <a:off x="6382512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6382512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44" name="Text 142"/>
          <p:cNvSpPr/>
          <p:nvPr/>
        </p:nvSpPr>
        <p:spPr>
          <a:xfrm>
            <a:off x="6492240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40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6382512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6382512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7" name="Text 145"/>
          <p:cNvSpPr/>
          <p:nvPr/>
        </p:nvSpPr>
        <p:spPr>
          <a:xfrm>
            <a:off x="6492240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41</a:t>
            </a:r>
            <a:endParaRPr lang="en-US" sz="900" dirty="0"/>
          </a:p>
        </p:txBody>
      </p:sp>
      <p:sp>
        <p:nvSpPr>
          <p:cNvPr id="148" name="Text 146"/>
          <p:cNvSpPr/>
          <p:nvPr/>
        </p:nvSpPr>
        <p:spPr>
          <a:xfrm>
            <a:off x="6382512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6382512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0" name="Text 148"/>
          <p:cNvSpPr/>
          <p:nvPr/>
        </p:nvSpPr>
        <p:spPr>
          <a:xfrm>
            <a:off x="6492240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42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6382512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6382512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3" name="Text 151"/>
          <p:cNvSpPr/>
          <p:nvPr/>
        </p:nvSpPr>
        <p:spPr>
          <a:xfrm>
            <a:off x="6492240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43</a:t>
            </a:r>
            <a:endParaRPr lang="en-US" sz="900" dirty="0"/>
          </a:p>
        </p:txBody>
      </p:sp>
      <p:sp>
        <p:nvSpPr>
          <p:cNvPr id="154" name="Text 152"/>
          <p:cNvSpPr/>
          <p:nvPr/>
        </p:nvSpPr>
        <p:spPr>
          <a:xfrm>
            <a:off x="6382512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6382512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6" name="Text 154"/>
          <p:cNvSpPr/>
          <p:nvPr/>
        </p:nvSpPr>
        <p:spPr>
          <a:xfrm>
            <a:off x="6492240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44</a:t>
            </a:r>
            <a:endParaRPr lang="en-US" sz="900" dirty="0"/>
          </a:p>
        </p:txBody>
      </p:sp>
      <p:sp>
        <p:nvSpPr>
          <p:cNvPr id="157" name="Text 155"/>
          <p:cNvSpPr/>
          <p:nvPr/>
        </p:nvSpPr>
        <p:spPr>
          <a:xfrm>
            <a:off x="6382512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6382512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9" name="Text 157"/>
          <p:cNvSpPr/>
          <p:nvPr/>
        </p:nvSpPr>
        <p:spPr>
          <a:xfrm>
            <a:off x="6492240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45</a:t>
            </a:r>
            <a:endParaRPr lang="en-US" sz="900" dirty="0"/>
          </a:p>
        </p:txBody>
      </p:sp>
      <p:sp>
        <p:nvSpPr>
          <p:cNvPr id="160" name="Text 158"/>
          <p:cNvSpPr/>
          <p:nvPr/>
        </p:nvSpPr>
        <p:spPr>
          <a:xfrm>
            <a:off x="6382512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6382512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2" name="Text 160"/>
          <p:cNvSpPr/>
          <p:nvPr/>
        </p:nvSpPr>
        <p:spPr>
          <a:xfrm>
            <a:off x="6492240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46</a:t>
            </a:r>
            <a:endParaRPr lang="en-US" sz="900" dirty="0"/>
          </a:p>
        </p:txBody>
      </p:sp>
      <p:sp>
        <p:nvSpPr>
          <p:cNvPr id="163" name="Text 161"/>
          <p:cNvSpPr/>
          <p:nvPr/>
        </p:nvSpPr>
        <p:spPr>
          <a:xfrm>
            <a:off x="6382512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64" name="Shape 162"/>
          <p:cNvSpPr/>
          <p:nvPr/>
        </p:nvSpPr>
        <p:spPr>
          <a:xfrm>
            <a:off x="6382512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65" name="Text 163"/>
          <p:cNvSpPr/>
          <p:nvPr/>
        </p:nvSpPr>
        <p:spPr>
          <a:xfrm>
            <a:off x="6492240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47</a:t>
            </a:r>
            <a:endParaRPr lang="en-US" sz="900" dirty="0"/>
          </a:p>
        </p:txBody>
      </p:sp>
      <p:sp>
        <p:nvSpPr>
          <p:cNvPr id="166" name="Text 164"/>
          <p:cNvSpPr/>
          <p:nvPr/>
        </p:nvSpPr>
        <p:spPr>
          <a:xfrm>
            <a:off x="6382512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67" name="Shape 165"/>
          <p:cNvSpPr/>
          <p:nvPr/>
        </p:nvSpPr>
        <p:spPr>
          <a:xfrm>
            <a:off x="6382512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8" name="Text 166"/>
          <p:cNvSpPr/>
          <p:nvPr/>
        </p:nvSpPr>
        <p:spPr>
          <a:xfrm>
            <a:off x="6492240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48</a:t>
            </a:r>
            <a:endParaRPr lang="en-US" sz="900" dirty="0"/>
          </a:p>
        </p:txBody>
      </p:sp>
      <p:sp>
        <p:nvSpPr>
          <p:cNvPr id="169" name="Text 167"/>
          <p:cNvSpPr/>
          <p:nvPr/>
        </p:nvSpPr>
        <p:spPr>
          <a:xfrm>
            <a:off x="6382512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70" name="Shape 168"/>
          <p:cNvSpPr/>
          <p:nvPr/>
        </p:nvSpPr>
        <p:spPr>
          <a:xfrm>
            <a:off x="6382512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71" name="Shape 169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173" name="Text 171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Operação 3  —  Contemplação no 24º mês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086600" y="822960"/>
            <a:ext cx="27432" cy="557784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VALORES EM REAIS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52728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252728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total da carta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1481328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R$ 1.500.000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1792" y="1911096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total da carta de crédito contratada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286000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228600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embutido (30%)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21792" y="2514600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R$ 450.000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1792" y="2944368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Retirado da carta para uso como lance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319272"/>
            <a:ext cx="6400800" cy="978408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319272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331927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disponível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21792" y="3547872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R$ 1.050.000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1792" y="397764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Após desconto do lance embutido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7200" y="4325112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4352544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4352544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livre (5%)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1792" y="4581144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R$ 75.000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1792" y="5010912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Pago do próprio bolso como lance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" y="5358384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5385816"/>
            <a:ext cx="36576" cy="850392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" y="5385816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Alavancagem (dinheiro novo)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1792" y="5614416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R$ 975.000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21792" y="6044184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efetivo além do capital investido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406640" y="82296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TAXAS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406640" y="109728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5" name="Shape 33"/>
          <p:cNvSpPr/>
          <p:nvPr/>
        </p:nvSpPr>
        <p:spPr>
          <a:xfrm>
            <a:off x="7406640" y="123444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6" name="Text 34"/>
          <p:cNvSpPr/>
          <p:nvPr/>
        </p:nvSpPr>
        <p:spPr>
          <a:xfrm>
            <a:off x="7571232" y="123444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Taxa de administração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571232" y="143560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19,00%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7406640" y="189280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9" name="Shape 37"/>
          <p:cNvSpPr/>
          <p:nvPr/>
        </p:nvSpPr>
        <p:spPr>
          <a:xfrm>
            <a:off x="7406640" y="201168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0" name="Text 38"/>
          <p:cNvSpPr/>
          <p:nvPr/>
        </p:nvSpPr>
        <p:spPr>
          <a:xfrm>
            <a:off x="7571232" y="201168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Fundo de reserva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571232" y="221284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3,00%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7406640" y="267004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3" name="Text 41"/>
          <p:cNvSpPr/>
          <p:nvPr/>
        </p:nvSpPr>
        <p:spPr>
          <a:xfrm>
            <a:off x="7406640" y="27889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PRAZOS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406640" y="306324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5" name="Shape 43"/>
          <p:cNvSpPr/>
          <p:nvPr/>
        </p:nvSpPr>
        <p:spPr>
          <a:xfrm>
            <a:off x="7406640" y="320040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6" name="Text 44"/>
          <p:cNvSpPr/>
          <p:nvPr/>
        </p:nvSpPr>
        <p:spPr>
          <a:xfrm>
            <a:off x="7571232" y="320040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Prazo total da operação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571232" y="340156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48 meses</a:t>
            </a:r>
            <a:endParaRPr lang="en-US" sz="2200" dirty="0"/>
          </a:p>
        </p:txBody>
      </p:sp>
      <p:sp>
        <p:nvSpPr>
          <p:cNvPr id="48" name="Shape 46"/>
          <p:cNvSpPr/>
          <p:nvPr/>
        </p:nvSpPr>
        <p:spPr>
          <a:xfrm>
            <a:off x="7406640" y="384048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9" name="Shape 47"/>
          <p:cNvSpPr/>
          <p:nvPr/>
        </p:nvSpPr>
        <p:spPr>
          <a:xfrm>
            <a:off x="7406640" y="3959352"/>
            <a:ext cx="36576" cy="566928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50" name="Text 48"/>
          <p:cNvSpPr/>
          <p:nvPr/>
        </p:nvSpPr>
        <p:spPr>
          <a:xfrm>
            <a:off x="7571232" y="395935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Expectativa de contemplação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571232" y="41605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24º mês</a:t>
            </a:r>
            <a:endParaRPr lang="en-US" sz="2200" dirty="0"/>
          </a:p>
        </p:txBody>
      </p:sp>
      <p:sp>
        <p:nvSpPr>
          <p:cNvPr id="52" name="Shape 50"/>
          <p:cNvSpPr/>
          <p:nvPr/>
        </p:nvSpPr>
        <p:spPr>
          <a:xfrm>
            <a:off x="7406640" y="4599432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3" name="Shape 51"/>
          <p:cNvSpPr/>
          <p:nvPr/>
        </p:nvSpPr>
        <p:spPr>
          <a:xfrm>
            <a:off x="7406640" y="4709160"/>
            <a:ext cx="4389120" cy="713232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54" name="Shape 52"/>
          <p:cNvSpPr/>
          <p:nvPr/>
        </p:nvSpPr>
        <p:spPr>
          <a:xfrm>
            <a:off x="7406640" y="4782312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5" name="Text 53"/>
          <p:cNvSpPr/>
          <p:nvPr/>
        </p:nvSpPr>
        <p:spPr>
          <a:xfrm>
            <a:off x="7571232" y="478231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 Efetivo Total (CET)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571232" y="498348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9,38% a.a.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7406640" y="5458968"/>
            <a:ext cx="4389120" cy="713232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58" name="Shape 56"/>
          <p:cNvSpPr/>
          <p:nvPr/>
        </p:nvSpPr>
        <p:spPr>
          <a:xfrm>
            <a:off x="7406640" y="553212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9" name="Text 57"/>
          <p:cNvSpPr/>
          <p:nvPr/>
        </p:nvSpPr>
        <p:spPr>
          <a:xfrm>
            <a:off x="7571232" y="553212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 Efetivo Total (CET)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571232" y="573328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0,7512% a.m.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4D3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Operação 3  —  Contemplação no 24º mês  —  Tabela de parcelas  (1/1)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 pré-fixada de 3%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146304" cy="14630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6400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pré-contemplação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9904" y="868680"/>
            <a:ext cx="18288" cy="57150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11480" y="117957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" y="140360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0" name="Shape 18"/>
          <p:cNvSpPr/>
          <p:nvPr/>
        </p:nvSpPr>
        <p:spPr>
          <a:xfrm>
            <a:off x="411480" y="162763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4" name="Shape 22"/>
          <p:cNvSpPr/>
          <p:nvPr/>
        </p:nvSpPr>
        <p:spPr>
          <a:xfrm>
            <a:off x="411480" y="185166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8" name="Shape 26"/>
          <p:cNvSpPr/>
          <p:nvPr/>
        </p:nvSpPr>
        <p:spPr>
          <a:xfrm>
            <a:off x="411480" y="207568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9" name="Text 27"/>
          <p:cNvSpPr/>
          <p:nvPr/>
        </p:nvSpPr>
        <p:spPr>
          <a:xfrm>
            <a:off x="521208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2" name="Shape 30"/>
          <p:cNvSpPr/>
          <p:nvPr/>
        </p:nvSpPr>
        <p:spPr>
          <a:xfrm>
            <a:off x="411480" y="229971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6" name="Shape 34"/>
          <p:cNvSpPr/>
          <p:nvPr/>
        </p:nvSpPr>
        <p:spPr>
          <a:xfrm>
            <a:off x="411480" y="252374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7" name="Text 35"/>
          <p:cNvSpPr/>
          <p:nvPr/>
        </p:nvSpPr>
        <p:spPr>
          <a:xfrm>
            <a:off x="521208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1480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1480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0" name="Shape 38"/>
          <p:cNvSpPr/>
          <p:nvPr/>
        </p:nvSpPr>
        <p:spPr>
          <a:xfrm>
            <a:off x="411480" y="274777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1" name="Text 39"/>
          <p:cNvSpPr/>
          <p:nvPr/>
        </p:nvSpPr>
        <p:spPr>
          <a:xfrm>
            <a:off x="521208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11480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480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4" name="Shape 42"/>
          <p:cNvSpPr/>
          <p:nvPr/>
        </p:nvSpPr>
        <p:spPr>
          <a:xfrm>
            <a:off x="411480" y="297180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5" name="Text 43"/>
          <p:cNvSpPr/>
          <p:nvPr/>
        </p:nvSpPr>
        <p:spPr>
          <a:xfrm>
            <a:off x="521208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8" name="Shape 46"/>
          <p:cNvSpPr/>
          <p:nvPr/>
        </p:nvSpPr>
        <p:spPr>
          <a:xfrm>
            <a:off x="411480" y="319582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9" name="Text 47"/>
          <p:cNvSpPr/>
          <p:nvPr/>
        </p:nvSpPr>
        <p:spPr>
          <a:xfrm>
            <a:off x="521208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11480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11480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2" name="Shape 50"/>
          <p:cNvSpPr/>
          <p:nvPr/>
        </p:nvSpPr>
        <p:spPr>
          <a:xfrm>
            <a:off x="411480" y="341985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3" name="Text 51"/>
          <p:cNvSpPr/>
          <p:nvPr/>
        </p:nvSpPr>
        <p:spPr>
          <a:xfrm>
            <a:off x="521208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11480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11480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6" name="Shape 54"/>
          <p:cNvSpPr/>
          <p:nvPr/>
        </p:nvSpPr>
        <p:spPr>
          <a:xfrm>
            <a:off x="411480" y="364388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7" name="Text 55"/>
          <p:cNvSpPr/>
          <p:nvPr/>
        </p:nvSpPr>
        <p:spPr>
          <a:xfrm>
            <a:off x="521208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0" name="Shape 58"/>
          <p:cNvSpPr/>
          <p:nvPr/>
        </p:nvSpPr>
        <p:spPr>
          <a:xfrm>
            <a:off x="411480" y="386791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61" name="Text 59"/>
          <p:cNvSpPr/>
          <p:nvPr/>
        </p:nvSpPr>
        <p:spPr>
          <a:xfrm>
            <a:off x="521208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11480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11480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4" name="Shape 62"/>
          <p:cNvSpPr/>
          <p:nvPr/>
        </p:nvSpPr>
        <p:spPr>
          <a:xfrm>
            <a:off x="411480" y="409194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65" name="Text 63"/>
          <p:cNvSpPr/>
          <p:nvPr/>
        </p:nvSpPr>
        <p:spPr>
          <a:xfrm>
            <a:off x="521208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11480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11480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8" name="Shape 66"/>
          <p:cNvSpPr/>
          <p:nvPr/>
        </p:nvSpPr>
        <p:spPr>
          <a:xfrm>
            <a:off x="411480" y="431596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69" name="Text 67"/>
          <p:cNvSpPr/>
          <p:nvPr/>
        </p:nvSpPr>
        <p:spPr>
          <a:xfrm>
            <a:off x="521208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11480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2" name="Shape 70"/>
          <p:cNvSpPr/>
          <p:nvPr/>
        </p:nvSpPr>
        <p:spPr>
          <a:xfrm>
            <a:off x="411480" y="453999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3" name="Text 71"/>
          <p:cNvSpPr/>
          <p:nvPr/>
        </p:nvSpPr>
        <p:spPr>
          <a:xfrm>
            <a:off x="521208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411480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11480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6" name="Shape 74"/>
          <p:cNvSpPr/>
          <p:nvPr/>
        </p:nvSpPr>
        <p:spPr>
          <a:xfrm>
            <a:off x="411480" y="476402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7" name="Text 75"/>
          <p:cNvSpPr/>
          <p:nvPr/>
        </p:nvSpPr>
        <p:spPr>
          <a:xfrm>
            <a:off x="521208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411480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411480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0" name="Shape 78"/>
          <p:cNvSpPr/>
          <p:nvPr/>
        </p:nvSpPr>
        <p:spPr>
          <a:xfrm>
            <a:off x="411480" y="498805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81" name="Text 79"/>
          <p:cNvSpPr/>
          <p:nvPr/>
        </p:nvSpPr>
        <p:spPr>
          <a:xfrm>
            <a:off x="521208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11480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11480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4" name="Shape 82"/>
          <p:cNvSpPr/>
          <p:nvPr/>
        </p:nvSpPr>
        <p:spPr>
          <a:xfrm>
            <a:off x="411480" y="521208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85" name="Text 83"/>
          <p:cNvSpPr/>
          <p:nvPr/>
        </p:nvSpPr>
        <p:spPr>
          <a:xfrm>
            <a:off x="521208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411480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411480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11480" y="543610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89" name="Text 87"/>
          <p:cNvSpPr/>
          <p:nvPr/>
        </p:nvSpPr>
        <p:spPr>
          <a:xfrm>
            <a:off x="521208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411480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411480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2" name="Shape 90"/>
          <p:cNvSpPr/>
          <p:nvPr/>
        </p:nvSpPr>
        <p:spPr>
          <a:xfrm>
            <a:off x="411480" y="566013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93" name="Text 91"/>
          <p:cNvSpPr/>
          <p:nvPr/>
        </p:nvSpPr>
        <p:spPr>
          <a:xfrm>
            <a:off x="521208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411480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411480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11480" y="588416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97" name="Text 95"/>
          <p:cNvSpPr/>
          <p:nvPr/>
        </p:nvSpPr>
        <p:spPr>
          <a:xfrm>
            <a:off x="521208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411480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411480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0" name="Shape 98"/>
          <p:cNvSpPr/>
          <p:nvPr/>
        </p:nvSpPr>
        <p:spPr>
          <a:xfrm>
            <a:off x="411480" y="610819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01" name="Text 99"/>
          <p:cNvSpPr/>
          <p:nvPr/>
        </p:nvSpPr>
        <p:spPr>
          <a:xfrm>
            <a:off x="521208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23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411480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411480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411480" y="633222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05" name="Text 103"/>
          <p:cNvSpPr/>
          <p:nvPr/>
        </p:nvSpPr>
        <p:spPr>
          <a:xfrm>
            <a:off x="521208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24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411480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411480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8" name="Shape 106"/>
          <p:cNvSpPr/>
          <p:nvPr/>
        </p:nvSpPr>
        <p:spPr>
          <a:xfrm>
            <a:off x="6382512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9" name="Text 107"/>
          <p:cNvSpPr/>
          <p:nvPr/>
        </p:nvSpPr>
        <p:spPr>
          <a:xfrm>
            <a:off x="6492240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0" name="Text 108"/>
          <p:cNvSpPr/>
          <p:nvPr/>
        </p:nvSpPr>
        <p:spPr>
          <a:xfrm>
            <a:off x="6382512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11" name="Text 109"/>
          <p:cNvSpPr/>
          <p:nvPr/>
        </p:nvSpPr>
        <p:spPr>
          <a:xfrm>
            <a:off x="6492240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25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6382512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382512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4" name="Text 112"/>
          <p:cNvSpPr/>
          <p:nvPr/>
        </p:nvSpPr>
        <p:spPr>
          <a:xfrm>
            <a:off x="6492240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26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6382512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6382512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7" name="Text 115"/>
          <p:cNvSpPr/>
          <p:nvPr/>
        </p:nvSpPr>
        <p:spPr>
          <a:xfrm>
            <a:off x="6492240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27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6382512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6382512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0" name="Text 118"/>
          <p:cNvSpPr/>
          <p:nvPr/>
        </p:nvSpPr>
        <p:spPr>
          <a:xfrm>
            <a:off x="6492240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28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382512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6382512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3" name="Text 121"/>
          <p:cNvSpPr/>
          <p:nvPr/>
        </p:nvSpPr>
        <p:spPr>
          <a:xfrm>
            <a:off x="6492240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29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6382512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6382512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6" name="Text 124"/>
          <p:cNvSpPr/>
          <p:nvPr/>
        </p:nvSpPr>
        <p:spPr>
          <a:xfrm>
            <a:off x="6492240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30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6382512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6382512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9" name="Text 127"/>
          <p:cNvSpPr/>
          <p:nvPr/>
        </p:nvSpPr>
        <p:spPr>
          <a:xfrm>
            <a:off x="6492240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31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6382512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6382512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2" name="Text 130"/>
          <p:cNvSpPr/>
          <p:nvPr/>
        </p:nvSpPr>
        <p:spPr>
          <a:xfrm>
            <a:off x="6492240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32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6382512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6382512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5" name="Text 133"/>
          <p:cNvSpPr/>
          <p:nvPr/>
        </p:nvSpPr>
        <p:spPr>
          <a:xfrm>
            <a:off x="6492240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33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6382512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6382512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8" name="Text 136"/>
          <p:cNvSpPr/>
          <p:nvPr/>
        </p:nvSpPr>
        <p:spPr>
          <a:xfrm>
            <a:off x="6492240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34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6382512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6382512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1" name="Text 139"/>
          <p:cNvSpPr/>
          <p:nvPr/>
        </p:nvSpPr>
        <p:spPr>
          <a:xfrm>
            <a:off x="6492240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35</a:t>
            </a:r>
            <a:endParaRPr lang="en-US" sz="900" dirty="0"/>
          </a:p>
        </p:txBody>
      </p:sp>
      <p:sp>
        <p:nvSpPr>
          <p:cNvPr id="142" name="Text 140"/>
          <p:cNvSpPr/>
          <p:nvPr/>
        </p:nvSpPr>
        <p:spPr>
          <a:xfrm>
            <a:off x="6382512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6382512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44" name="Text 142"/>
          <p:cNvSpPr/>
          <p:nvPr/>
        </p:nvSpPr>
        <p:spPr>
          <a:xfrm>
            <a:off x="6492240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36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6382512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6382512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7" name="Text 145"/>
          <p:cNvSpPr/>
          <p:nvPr/>
        </p:nvSpPr>
        <p:spPr>
          <a:xfrm>
            <a:off x="6492240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37</a:t>
            </a:r>
            <a:endParaRPr lang="en-US" sz="900" dirty="0"/>
          </a:p>
        </p:txBody>
      </p:sp>
      <p:sp>
        <p:nvSpPr>
          <p:cNvPr id="148" name="Text 146"/>
          <p:cNvSpPr/>
          <p:nvPr/>
        </p:nvSpPr>
        <p:spPr>
          <a:xfrm>
            <a:off x="6382512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6382512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0" name="Text 148"/>
          <p:cNvSpPr/>
          <p:nvPr/>
        </p:nvSpPr>
        <p:spPr>
          <a:xfrm>
            <a:off x="6492240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38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6382512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6382512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3" name="Text 151"/>
          <p:cNvSpPr/>
          <p:nvPr/>
        </p:nvSpPr>
        <p:spPr>
          <a:xfrm>
            <a:off x="6492240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39</a:t>
            </a:r>
            <a:endParaRPr lang="en-US" sz="900" dirty="0"/>
          </a:p>
        </p:txBody>
      </p:sp>
      <p:sp>
        <p:nvSpPr>
          <p:cNvPr id="154" name="Text 152"/>
          <p:cNvSpPr/>
          <p:nvPr/>
        </p:nvSpPr>
        <p:spPr>
          <a:xfrm>
            <a:off x="6382512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6382512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6" name="Text 154"/>
          <p:cNvSpPr/>
          <p:nvPr/>
        </p:nvSpPr>
        <p:spPr>
          <a:xfrm>
            <a:off x="6492240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40</a:t>
            </a:r>
            <a:endParaRPr lang="en-US" sz="900" dirty="0"/>
          </a:p>
        </p:txBody>
      </p:sp>
      <p:sp>
        <p:nvSpPr>
          <p:cNvPr id="157" name="Text 155"/>
          <p:cNvSpPr/>
          <p:nvPr/>
        </p:nvSpPr>
        <p:spPr>
          <a:xfrm>
            <a:off x="6382512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6382512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9" name="Text 157"/>
          <p:cNvSpPr/>
          <p:nvPr/>
        </p:nvSpPr>
        <p:spPr>
          <a:xfrm>
            <a:off x="6492240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41</a:t>
            </a:r>
            <a:endParaRPr lang="en-US" sz="900" dirty="0"/>
          </a:p>
        </p:txBody>
      </p:sp>
      <p:sp>
        <p:nvSpPr>
          <p:cNvPr id="160" name="Text 158"/>
          <p:cNvSpPr/>
          <p:nvPr/>
        </p:nvSpPr>
        <p:spPr>
          <a:xfrm>
            <a:off x="6382512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6382512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2" name="Text 160"/>
          <p:cNvSpPr/>
          <p:nvPr/>
        </p:nvSpPr>
        <p:spPr>
          <a:xfrm>
            <a:off x="6492240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42</a:t>
            </a:r>
            <a:endParaRPr lang="en-US" sz="900" dirty="0"/>
          </a:p>
        </p:txBody>
      </p:sp>
      <p:sp>
        <p:nvSpPr>
          <p:cNvPr id="163" name="Text 161"/>
          <p:cNvSpPr/>
          <p:nvPr/>
        </p:nvSpPr>
        <p:spPr>
          <a:xfrm>
            <a:off x="6382512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64" name="Shape 162"/>
          <p:cNvSpPr/>
          <p:nvPr/>
        </p:nvSpPr>
        <p:spPr>
          <a:xfrm>
            <a:off x="6382512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65" name="Text 163"/>
          <p:cNvSpPr/>
          <p:nvPr/>
        </p:nvSpPr>
        <p:spPr>
          <a:xfrm>
            <a:off x="6492240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43</a:t>
            </a:r>
            <a:endParaRPr lang="en-US" sz="900" dirty="0"/>
          </a:p>
        </p:txBody>
      </p:sp>
      <p:sp>
        <p:nvSpPr>
          <p:cNvPr id="166" name="Text 164"/>
          <p:cNvSpPr/>
          <p:nvPr/>
        </p:nvSpPr>
        <p:spPr>
          <a:xfrm>
            <a:off x="6382512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67" name="Shape 165"/>
          <p:cNvSpPr/>
          <p:nvPr/>
        </p:nvSpPr>
        <p:spPr>
          <a:xfrm>
            <a:off x="6382512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8" name="Text 166"/>
          <p:cNvSpPr/>
          <p:nvPr/>
        </p:nvSpPr>
        <p:spPr>
          <a:xfrm>
            <a:off x="6492240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44</a:t>
            </a:r>
            <a:endParaRPr lang="en-US" sz="900" dirty="0"/>
          </a:p>
        </p:txBody>
      </p:sp>
      <p:sp>
        <p:nvSpPr>
          <p:cNvPr id="169" name="Text 167"/>
          <p:cNvSpPr/>
          <p:nvPr/>
        </p:nvSpPr>
        <p:spPr>
          <a:xfrm>
            <a:off x="6382512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70" name="Shape 168"/>
          <p:cNvSpPr/>
          <p:nvPr/>
        </p:nvSpPr>
        <p:spPr>
          <a:xfrm>
            <a:off x="6382512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71" name="Text 169"/>
          <p:cNvSpPr/>
          <p:nvPr/>
        </p:nvSpPr>
        <p:spPr>
          <a:xfrm>
            <a:off x="6492240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45</a:t>
            </a:r>
            <a:endParaRPr lang="en-US" sz="900" dirty="0"/>
          </a:p>
        </p:txBody>
      </p:sp>
      <p:sp>
        <p:nvSpPr>
          <p:cNvPr id="172" name="Text 170"/>
          <p:cNvSpPr/>
          <p:nvPr/>
        </p:nvSpPr>
        <p:spPr>
          <a:xfrm>
            <a:off x="6382512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73" name="Shape 171"/>
          <p:cNvSpPr/>
          <p:nvPr/>
        </p:nvSpPr>
        <p:spPr>
          <a:xfrm>
            <a:off x="6382512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74" name="Text 172"/>
          <p:cNvSpPr/>
          <p:nvPr/>
        </p:nvSpPr>
        <p:spPr>
          <a:xfrm>
            <a:off x="6492240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46</a:t>
            </a:r>
            <a:endParaRPr lang="en-US" sz="900" dirty="0"/>
          </a:p>
        </p:txBody>
      </p:sp>
      <p:sp>
        <p:nvSpPr>
          <p:cNvPr id="175" name="Text 173"/>
          <p:cNvSpPr/>
          <p:nvPr/>
        </p:nvSpPr>
        <p:spPr>
          <a:xfrm>
            <a:off x="6382512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76" name="Shape 174"/>
          <p:cNvSpPr/>
          <p:nvPr/>
        </p:nvSpPr>
        <p:spPr>
          <a:xfrm>
            <a:off x="6382512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77" name="Text 175"/>
          <p:cNvSpPr/>
          <p:nvPr/>
        </p:nvSpPr>
        <p:spPr>
          <a:xfrm>
            <a:off x="6492240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47</a:t>
            </a:r>
            <a:endParaRPr lang="en-US" sz="900" dirty="0"/>
          </a:p>
        </p:txBody>
      </p:sp>
      <p:sp>
        <p:nvSpPr>
          <p:cNvPr id="178" name="Text 176"/>
          <p:cNvSpPr/>
          <p:nvPr/>
        </p:nvSpPr>
        <p:spPr>
          <a:xfrm>
            <a:off x="6382512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79" name="Shape 177"/>
          <p:cNvSpPr/>
          <p:nvPr/>
        </p:nvSpPr>
        <p:spPr>
          <a:xfrm>
            <a:off x="6382512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80" name="Text 178"/>
          <p:cNvSpPr/>
          <p:nvPr/>
        </p:nvSpPr>
        <p:spPr>
          <a:xfrm>
            <a:off x="6492240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48</a:t>
            </a:r>
            <a:endParaRPr lang="en-US" sz="900" dirty="0"/>
          </a:p>
        </p:txBody>
      </p:sp>
      <p:sp>
        <p:nvSpPr>
          <p:cNvPr id="181" name="Text 179"/>
          <p:cNvSpPr/>
          <p:nvPr/>
        </p:nvSpPr>
        <p:spPr>
          <a:xfrm>
            <a:off x="6382512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82" name="Shape 180"/>
          <p:cNvSpPr/>
          <p:nvPr/>
        </p:nvSpPr>
        <p:spPr>
          <a:xfrm>
            <a:off x="6382512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3" name="Shape 181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185" name="Text 183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Observações importantes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1887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Trata-se de uma cotação indicativa.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55648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847088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470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1847088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Os valores informados são projeções baseadas no estudo do histórico de contemplações do grupo selecionado.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14016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505456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054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2505456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reduzida em 30% até a contemplação, conforme condições previamente estabelecidas.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72384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163824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638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3163824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valor de crédito contratado, as parcelas e os lances serão corrigidos anualmente por uma taxa pré-fixada de 3% ao ano.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30752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822192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8221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" y="3822192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operação está sujeita à análise e aprovação da administradora.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Fale com a nossa equipe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2700000">
              <a:srgbClr val="DDDDDD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2743200" cy="548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Leblon  |  RJ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Av. Ataulfo de Paiva, 204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sl. 201  •  CEP 22.440-033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01568" y="11887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2700000">
              <a:srgbClr val="DDDDDD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01568" y="1188720"/>
            <a:ext cx="2743200" cy="548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1" name="Text 9"/>
          <p:cNvSpPr/>
          <p:nvPr/>
        </p:nvSpPr>
        <p:spPr>
          <a:xfrm>
            <a:off x="3538728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Barra da Tijuca  |  RJ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38728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Av. das Américas, 3500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Bloco 7, sl. 226 e 227  •  CEP 22.640-102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345936" y="11887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2700000">
              <a:srgbClr val="DDDDDD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45936" y="1188720"/>
            <a:ext cx="2743200" cy="548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5" name="Text 13"/>
          <p:cNvSpPr/>
          <p:nvPr/>
        </p:nvSpPr>
        <p:spPr>
          <a:xfrm>
            <a:off x="6483096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Itaim Bibi  |  SP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83096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Rua Bandeira Paulista, 600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sl. 92  •  CEP 04.532-001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290304" y="11887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2700000">
              <a:srgbClr val="DDDDDD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290304" y="1188720"/>
            <a:ext cx="2743200" cy="548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9" name="Text 17"/>
          <p:cNvSpPr/>
          <p:nvPr/>
        </p:nvSpPr>
        <p:spPr>
          <a:xfrm>
            <a:off x="9427464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Alphaville  |  SP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427464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Av. Cauaxi, 293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sl. 1915 e 1916  •  CEP 06.472-001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11247120" cy="45720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Contatos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160520"/>
            <a:ext cx="4206240" cy="118872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297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Luca Bellandi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4663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(11) 98700-8555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0" y="4160520"/>
            <a:ext cx="4206240" cy="118872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4297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Pedro Ramires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12080" y="4663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(11) 99542-7151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solidFill>
            <a:srgbClr val="003D29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Proposta Comparativa — Ana Rodrigues (PJ Tradicional)</dc:subject>
  <dc:creator>Somus Capital</dc:creator>
  <cp:lastModifiedBy>Somus Capital</cp:lastModifiedBy>
  <cp:revision>1</cp:revision>
  <dcterms:created xsi:type="dcterms:W3CDTF">2026-03-24T13:12:41Z</dcterms:created>
  <dcterms:modified xsi:type="dcterms:W3CDTF">2026-03-24T13:12:41Z</dcterms:modified>
</cp:coreProperties>
</file>