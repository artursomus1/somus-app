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7982712" y="0"/>
            <a:ext cx="36576" cy="685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CONSÓRCIO IMOBILIÁRIO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Apresentação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Comparativa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Propostas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cenários  —  Ana Rodrigues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320040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321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Março 2026</a:t>
            </a:r>
            <a:endParaRPr lang="en-US" sz="1100" dirty="0"/>
          </a:p>
        </p:txBody>
      </p:sp>
      <p:pic>
        <p:nvPicPr>
          <p:cNvPr id="9" name="Image 0" descr="C:\Users\Pedro Paulo Aguilar\Documents\Somus_Templates\logo_extraido\somus_logo_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10312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Comparativo das visões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42232" y="822960"/>
            <a:ext cx="18288" cy="5742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Shape 4"/>
          <p:cNvSpPr/>
          <p:nvPr/>
        </p:nvSpPr>
        <p:spPr>
          <a:xfrm>
            <a:off x="8055864" y="822960"/>
            <a:ext cx="18288" cy="5742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6º mês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6º mês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0,6210% a.m.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0040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7,71% a.a.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0040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25%  —  R$ 375.000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0040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20040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R$ 675.000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233672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12º mês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33672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36" name="Shape 34"/>
          <p:cNvSpPr/>
          <p:nvPr/>
        </p:nvSpPr>
        <p:spPr>
          <a:xfrm>
            <a:off x="4233672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7" name="Text 35"/>
          <p:cNvSpPr/>
          <p:nvPr/>
        </p:nvSpPr>
        <p:spPr>
          <a:xfrm>
            <a:off x="4398264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98264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12º mês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233672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233672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4398264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98264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0,6854% a.m.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233672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233672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4398264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398264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8,52% a.a.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233672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233672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4398264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398264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 —  R$ 225.000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4233672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52" name="Shape 50"/>
          <p:cNvSpPr/>
          <p:nvPr/>
        </p:nvSpPr>
        <p:spPr>
          <a:xfrm>
            <a:off x="4233672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3" name="Text 51"/>
          <p:cNvSpPr/>
          <p:nvPr/>
        </p:nvSpPr>
        <p:spPr>
          <a:xfrm>
            <a:off x="4398264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398264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233672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4233672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4398264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398264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R$ 825.000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8147304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84464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24º mês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8147304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62" name="Shape 60"/>
          <p:cNvSpPr/>
          <p:nvPr/>
        </p:nvSpPr>
        <p:spPr>
          <a:xfrm>
            <a:off x="8147304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63" name="Text 61"/>
          <p:cNvSpPr/>
          <p:nvPr/>
        </p:nvSpPr>
        <p:spPr>
          <a:xfrm>
            <a:off x="8311896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311896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24º mês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8147304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8147304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7" name="Text 65"/>
          <p:cNvSpPr/>
          <p:nvPr/>
        </p:nvSpPr>
        <p:spPr>
          <a:xfrm>
            <a:off x="8311896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311896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0,7512% a.m.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8147304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8147304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1" name="Text 69"/>
          <p:cNvSpPr/>
          <p:nvPr/>
        </p:nvSpPr>
        <p:spPr>
          <a:xfrm>
            <a:off x="8311896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311896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9,38% a.a.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8147304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8147304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5" name="Text 73"/>
          <p:cNvSpPr/>
          <p:nvPr/>
        </p:nvSpPr>
        <p:spPr>
          <a:xfrm>
            <a:off x="8311896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311896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5%  —  R$ 75.000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8147304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78" name="Shape 76"/>
          <p:cNvSpPr/>
          <p:nvPr/>
        </p:nvSpPr>
        <p:spPr>
          <a:xfrm>
            <a:off x="8147304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79" name="Text 77"/>
          <p:cNvSpPr/>
          <p:nvPr/>
        </p:nvSpPr>
        <p:spPr>
          <a:xfrm>
            <a:off x="8311896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311896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8147304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8147304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3" name="Text 81"/>
          <p:cNvSpPr/>
          <p:nvPr/>
        </p:nvSpPr>
        <p:spPr>
          <a:xfrm>
            <a:off x="8311896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8311896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R$ 975.000</a:t>
            </a:r>
            <a:endParaRPr lang="en-US" sz="1500" dirty="0"/>
          </a:p>
        </p:txBody>
      </p:sp>
      <p:sp>
        <p:nvSpPr>
          <p:cNvPr id="85" name="Shape 83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1  —  Contemplação no 6º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(25%)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R$ 375.000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R$ 675.000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7,71%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0,6210%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1  —  Contemplação no 6º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Text 82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7" name="Text 85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0" name="Shape 88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1" name="Text 89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Shape 163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2  —  Contemplação no 12º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(15%)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R$ 225.000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R$ 825.000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8,52%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0,6854%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2  —  Contemplação no 12º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Text 82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7" name="Text 8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0" name="Text 88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3" name="Text 91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6" name="Shape 94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7" name="Text 95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Text 163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1" name="Shape 16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3  —  Contemplação no 24º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R$ 975.000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9,38%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0,7512%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3  —  Contemplação no 24º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Shape 58"/>
          <p:cNvSpPr/>
          <p:nvPr/>
        </p:nvSpPr>
        <p:spPr>
          <a:xfrm>
            <a:off x="411480" y="386791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1" name="Text 59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4" name="Shape 62"/>
          <p:cNvSpPr/>
          <p:nvPr/>
        </p:nvSpPr>
        <p:spPr>
          <a:xfrm>
            <a:off x="411480" y="409194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5" name="Text 63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8" name="Shape 66"/>
          <p:cNvSpPr/>
          <p:nvPr/>
        </p:nvSpPr>
        <p:spPr>
          <a:xfrm>
            <a:off x="411480" y="431596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2" name="Shape 70"/>
          <p:cNvSpPr/>
          <p:nvPr/>
        </p:nvSpPr>
        <p:spPr>
          <a:xfrm>
            <a:off x="411480" y="453999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3" name="Text 71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6" name="Shape 74"/>
          <p:cNvSpPr/>
          <p:nvPr/>
        </p:nvSpPr>
        <p:spPr>
          <a:xfrm>
            <a:off x="411480" y="476402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7" name="Text 75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0" name="Shape 78"/>
          <p:cNvSpPr/>
          <p:nvPr/>
        </p:nvSpPr>
        <p:spPr>
          <a:xfrm>
            <a:off x="411480" y="498805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411480" y="521208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5" name="Text 83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11480" y="543610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9" name="Text 8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2" name="Shape 90"/>
          <p:cNvSpPr/>
          <p:nvPr/>
        </p:nvSpPr>
        <p:spPr>
          <a:xfrm>
            <a:off x="411480" y="566013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3" name="Text 91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11480" y="588416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7" name="Text 9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0" name="Shape 98"/>
          <p:cNvSpPr/>
          <p:nvPr/>
        </p:nvSpPr>
        <p:spPr>
          <a:xfrm>
            <a:off x="411480" y="610819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01" name="Text 99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11480" y="633222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05" name="Text 103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9" name="Text 107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Text 163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1" name="Text 169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72" name="Text 170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74" name="Text 172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75" name="Text 173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7" name="Text 175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78" name="Text 176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0" name="Text 178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81" name="Text 179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82" name="Shape 180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3" name="Shape 181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Observações importantes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Trata-se de uma cotação indicativa.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4708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valores informados são projeções baseadas no estudo do histórico de contemplações do grupo selecionado.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05456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50545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reduzida em 30% até a contemplação, conforme condições previamente estabelecidas.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63824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16382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 modalidade de lance fixo, a contemplação está sujeita ao sorteio de cotas dos grupos.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822192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82219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valor de crédito contratado, as parcelas e os lances serão corrigidos anualmente por uma taxa pré-fixada de 3% ao ano.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48056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4480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está sujeita à análise e aprovação da administradora.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Fale com a nossa equipe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Leblon  |  RJ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Ataulfo de Paiva, 204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201  •  CEP 22.440-033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Barra da Tijuca  |  RJ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das Américas, 3500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Bloco 7, sl. 226 e 227  •  CEP 22.640-102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45936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45936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5" name="Text 13"/>
          <p:cNvSpPr/>
          <p:nvPr/>
        </p:nvSpPr>
        <p:spPr>
          <a:xfrm>
            <a:off x="6483096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Itaim Bibi  |  SP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83096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Rua Bandeira Paulista, 600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92  •  CEP 04.532-001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90304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90304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9" name="Text 17"/>
          <p:cNvSpPr/>
          <p:nvPr/>
        </p:nvSpPr>
        <p:spPr>
          <a:xfrm>
            <a:off x="9427464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Alphaville  |  SP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27464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Cauaxi, 293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1915 e 1916  •  CEP 06.472-001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124712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Contatos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Luca Bellandi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98700-8555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Pedro Ramires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99542-7151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003D2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Proposta Comparativa — Ana Rodrigues (Lance Fixo)</dc:subject>
  <dc:creator>Somus Capital</dc:creator>
  <cp:lastModifiedBy>Somus Capital</cp:lastModifiedBy>
  <cp:revision>1</cp:revision>
  <dcterms:created xsi:type="dcterms:W3CDTF">2026-03-24T13:12:39Z</dcterms:created>
  <dcterms:modified xsi:type="dcterms:W3CDTF">2026-03-24T13:12:39Z</dcterms:modified>
</cp:coreProperties>
</file>