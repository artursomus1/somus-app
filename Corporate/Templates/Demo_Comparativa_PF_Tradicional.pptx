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3" name="Shape 1"/>
          <p:cNvSpPr/>
          <p:nvPr/>
        </p:nvSpPr>
        <p:spPr>
          <a:xfrm>
            <a:off x="7982712" y="0"/>
            <a:ext cx="36576" cy="68580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CONSÓRCIO IMOBILIÁRIO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132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Apresentação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Comparativa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Propostas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cenários  —  Ana Rodrigues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3200400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321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Março 2026</a:t>
            </a:r>
            <a:endParaRPr lang="en-US" sz="1100" dirty="0"/>
          </a:p>
        </p:txBody>
      </p:sp>
      <p:pic>
        <p:nvPicPr>
          <p:cNvPr id="9" name="Image 0" descr="C:\Users\Pedro Paulo Aguilar\Documents\Somus_Templates\logo_extraido\somus_logo_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10312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Comparativo das visões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42232" y="822960"/>
            <a:ext cx="18288" cy="5742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Shape 4"/>
          <p:cNvSpPr/>
          <p:nvPr/>
        </p:nvSpPr>
        <p:spPr>
          <a:xfrm>
            <a:off x="8055864" y="822960"/>
            <a:ext cx="18288" cy="5742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822960"/>
            <a:ext cx="3749040" cy="5029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229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no 6º mês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325880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1380744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139903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4632" y="161848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6º mês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0040" y="2185416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2240280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2258568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mensal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" y="247802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0,6210% a.m.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0040" y="3044952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099816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" y="3118104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anual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4632" y="3337560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7,71% a.a.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20040" y="3904488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3959352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" y="3977640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" y="4197096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25%  —  R$ 375.000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20040" y="4764024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4818888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" y="4837176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4632" y="5056632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20040" y="5623560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5678424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" y="569671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4632" y="591616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R$ 675.000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233672" y="822960"/>
            <a:ext cx="3749040" cy="5029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8229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no 12º mês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233672" y="1325880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36" name="Shape 34"/>
          <p:cNvSpPr/>
          <p:nvPr/>
        </p:nvSpPr>
        <p:spPr>
          <a:xfrm>
            <a:off x="4233672" y="1380744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37" name="Text 35"/>
          <p:cNvSpPr/>
          <p:nvPr/>
        </p:nvSpPr>
        <p:spPr>
          <a:xfrm>
            <a:off x="4398264" y="139903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398264" y="161848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12º mês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233672" y="2185416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233672" y="2240280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1" name="Text 39"/>
          <p:cNvSpPr/>
          <p:nvPr/>
        </p:nvSpPr>
        <p:spPr>
          <a:xfrm>
            <a:off x="4398264" y="2258568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mensal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398264" y="247802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0,6854% a.m.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4233672" y="3044952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4233672" y="3099816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5" name="Text 43"/>
          <p:cNvSpPr/>
          <p:nvPr/>
        </p:nvSpPr>
        <p:spPr>
          <a:xfrm>
            <a:off x="4398264" y="3118104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anual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398264" y="3337560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8,52% a.a.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4233672" y="3904488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4233672" y="3959352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9" name="Text 47"/>
          <p:cNvSpPr/>
          <p:nvPr/>
        </p:nvSpPr>
        <p:spPr>
          <a:xfrm>
            <a:off x="4398264" y="3977640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398264" y="4197096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 —  R$ 225.000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4233672" y="4764024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52" name="Shape 50"/>
          <p:cNvSpPr/>
          <p:nvPr/>
        </p:nvSpPr>
        <p:spPr>
          <a:xfrm>
            <a:off x="4233672" y="4818888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53" name="Text 51"/>
          <p:cNvSpPr/>
          <p:nvPr/>
        </p:nvSpPr>
        <p:spPr>
          <a:xfrm>
            <a:off x="4398264" y="4837176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398264" y="5056632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4233672" y="5623560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4233672" y="5678424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7" name="Text 55"/>
          <p:cNvSpPr/>
          <p:nvPr/>
        </p:nvSpPr>
        <p:spPr>
          <a:xfrm>
            <a:off x="4398264" y="569671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398264" y="591616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R$ 825.000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8147304" y="822960"/>
            <a:ext cx="3749040" cy="5029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84464" y="8229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no 24º mês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8147304" y="1325880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62" name="Shape 60"/>
          <p:cNvSpPr/>
          <p:nvPr/>
        </p:nvSpPr>
        <p:spPr>
          <a:xfrm>
            <a:off x="8147304" y="1380744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63" name="Text 61"/>
          <p:cNvSpPr/>
          <p:nvPr/>
        </p:nvSpPr>
        <p:spPr>
          <a:xfrm>
            <a:off x="8311896" y="139903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311896" y="161848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24º mês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8147304" y="2185416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8147304" y="2240280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67" name="Text 65"/>
          <p:cNvSpPr/>
          <p:nvPr/>
        </p:nvSpPr>
        <p:spPr>
          <a:xfrm>
            <a:off x="8311896" y="2258568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mensal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8311896" y="247802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0,7512% a.m.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8147304" y="3044952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hape 68"/>
          <p:cNvSpPr/>
          <p:nvPr/>
        </p:nvSpPr>
        <p:spPr>
          <a:xfrm>
            <a:off x="8147304" y="3099816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1" name="Text 69"/>
          <p:cNvSpPr/>
          <p:nvPr/>
        </p:nvSpPr>
        <p:spPr>
          <a:xfrm>
            <a:off x="8311896" y="3118104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anual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311896" y="3337560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9,38% a.a.</a:t>
            </a:r>
            <a:endParaRPr lang="en-US" sz="1500" dirty="0"/>
          </a:p>
        </p:txBody>
      </p:sp>
      <p:sp>
        <p:nvSpPr>
          <p:cNvPr id="73" name="Shape 71"/>
          <p:cNvSpPr/>
          <p:nvPr/>
        </p:nvSpPr>
        <p:spPr>
          <a:xfrm>
            <a:off x="8147304" y="3904488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hape 72"/>
          <p:cNvSpPr/>
          <p:nvPr/>
        </p:nvSpPr>
        <p:spPr>
          <a:xfrm>
            <a:off x="8147304" y="3959352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5" name="Text 73"/>
          <p:cNvSpPr/>
          <p:nvPr/>
        </p:nvSpPr>
        <p:spPr>
          <a:xfrm>
            <a:off x="8311896" y="3977640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8311896" y="4197096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5%  —  R$ 75.000</a:t>
            </a: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8147304" y="4764024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</p:sp>
      <p:sp>
        <p:nvSpPr>
          <p:cNvPr id="78" name="Shape 76"/>
          <p:cNvSpPr/>
          <p:nvPr/>
        </p:nvSpPr>
        <p:spPr>
          <a:xfrm>
            <a:off x="8147304" y="4818888"/>
            <a:ext cx="36576" cy="74980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79" name="Text 77"/>
          <p:cNvSpPr/>
          <p:nvPr/>
        </p:nvSpPr>
        <p:spPr>
          <a:xfrm>
            <a:off x="8311896" y="4837176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8311896" y="5056632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8147304" y="5623560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Shape 80"/>
          <p:cNvSpPr/>
          <p:nvPr/>
        </p:nvSpPr>
        <p:spPr>
          <a:xfrm>
            <a:off x="8147304" y="5678424"/>
            <a:ext cx="36576" cy="74980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83" name="Text 81"/>
          <p:cNvSpPr/>
          <p:nvPr/>
        </p:nvSpPr>
        <p:spPr>
          <a:xfrm>
            <a:off x="8311896" y="569671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8311896" y="591616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R$ 975.000</a:t>
            </a:r>
            <a:endParaRPr lang="en-US" sz="1500" dirty="0"/>
          </a:p>
        </p:txBody>
      </p:sp>
      <p:sp>
        <p:nvSpPr>
          <p:cNvPr id="85" name="Shape 83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1  —  Contemplação no 6º mês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822960"/>
            <a:ext cx="27432" cy="55778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EM REAIS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2527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R$ 1.500.000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19110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 de crédito contratada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86000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2860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(30%)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R$ 450.000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Retirado da carta para uso como lance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319272"/>
            <a:ext cx="6400800" cy="978408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19272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31927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desconto do lance embutido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325112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352544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35254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 (25%)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4581144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R$ 375.000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" y="50109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 do próprio bolso como lance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5358384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385816"/>
            <a:ext cx="36576" cy="850392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53858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561441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R$ 675.000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1792" y="604418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além do capital investido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822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10972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Shape 33"/>
          <p:cNvSpPr/>
          <p:nvPr/>
        </p:nvSpPr>
        <p:spPr>
          <a:xfrm>
            <a:off x="7406640" y="123444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6" name="Text 34"/>
          <p:cNvSpPr/>
          <p:nvPr/>
        </p:nvSpPr>
        <p:spPr>
          <a:xfrm>
            <a:off x="7571232" y="12344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 de administração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71232" y="14356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19,00%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406640" y="1892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6640" y="20116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0" name="Text 38"/>
          <p:cNvSpPr/>
          <p:nvPr/>
        </p:nvSpPr>
        <p:spPr>
          <a:xfrm>
            <a:off x="7571232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Fundo de reserva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71232" y="22128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3,00%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406640" y="267004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27889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306324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5" name="Shape 43"/>
          <p:cNvSpPr/>
          <p:nvPr/>
        </p:nvSpPr>
        <p:spPr>
          <a:xfrm>
            <a:off x="7406640" y="320040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6" name="Text 44"/>
          <p:cNvSpPr/>
          <p:nvPr/>
        </p:nvSpPr>
        <p:spPr>
          <a:xfrm>
            <a:off x="7571232" y="32004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 total da operação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71232" y="34015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 meses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406640" y="38404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9" name="Shape 47"/>
          <p:cNvSpPr/>
          <p:nvPr/>
        </p:nvSpPr>
        <p:spPr>
          <a:xfrm>
            <a:off x="7406640" y="3959352"/>
            <a:ext cx="36576" cy="56692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50" name="Text 48"/>
          <p:cNvSpPr/>
          <p:nvPr/>
        </p:nvSpPr>
        <p:spPr>
          <a:xfrm>
            <a:off x="7571232" y="39593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Expectativa de contemplação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71232" y="4160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6º mês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406640" y="4599432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3" name="Shape 51"/>
          <p:cNvSpPr/>
          <p:nvPr/>
        </p:nvSpPr>
        <p:spPr>
          <a:xfrm>
            <a:off x="7406640" y="4709160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4" name="Shape 52"/>
          <p:cNvSpPr/>
          <p:nvPr/>
        </p:nvSpPr>
        <p:spPr>
          <a:xfrm>
            <a:off x="7406640" y="4782312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5" name="Text 53"/>
          <p:cNvSpPr/>
          <p:nvPr/>
        </p:nvSpPr>
        <p:spPr>
          <a:xfrm>
            <a:off x="7571232" y="47823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71232" y="49834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7,71% a.a.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406640" y="5458968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8" name="Shape 56"/>
          <p:cNvSpPr/>
          <p:nvPr/>
        </p:nvSpPr>
        <p:spPr>
          <a:xfrm>
            <a:off x="7406640" y="553212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9" name="Text 57"/>
          <p:cNvSpPr/>
          <p:nvPr/>
        </p:nvSpPr>
        <p:spPr>
          <a:xfrm>
            <a:off x="7571232" y="55321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57332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0,6210% a.m.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1  —  Contemplação no 6º mês  —  Tabela de parcelas  (1/1)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17957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140360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162763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185166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207568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229971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9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4" name="Text 52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Text 82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23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7" name="Text 85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24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0" name="Shape 88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1" name="Text 89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25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Text 94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26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9" name="Text 97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27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28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29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30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31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32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33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34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35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36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37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38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39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40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41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42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43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44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45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46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Text 157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47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2" name="Text 160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48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5" name="Shape 163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2  —  Contemplação no 12º mês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822960"/>
            <a:ext cx="27432" cy="55778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EM REAIS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2527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R$ 1.500.000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19110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 de crédito contratada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86000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2860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(30%)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R$ 450.000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Retirado da carta para uso como lance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319272"/>
            <a:ext cx="6400800" cy="978408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19272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31927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desconto do lance embutido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325112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352544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35254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 (15%)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4581144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R$ 225.000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" y="50109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 do próprio bolso como lance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5358384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385816"/>
            <a:ext cx="36576" cy="850392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53858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561441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R$ 825.000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1792" y="604418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além do capital investido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822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10972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Shape 33"/>
          <p:cNvSpPr/>
          <p:nvPr/>
        </p:nvSpPr>
        <p:spPr>
          <a:xfrm>
            <a:off x="7406640" y="123444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6" name="Text 34"/>
          <p:cNvSpPr/>
          <p:nvPr/>
        </p:nvSpPr>
        <p:spPr>
          <a:xfrm>
            <a:off x="7571232" y="12344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 de administração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71232" y="14356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19,00%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406640" y="1892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6640" y="20116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0" name="Text 38"/>
          <p:cNvSpPr/>
          <p:nvPr/>
        </p:nvSpPr>
        <p:spPr>
          <a:xfrm>
            <a:off x="7571232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Fundo de reserva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71232" y="22128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3,00%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406640" y="267004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27889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306324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5" name="Shape 43"/>
          <p:cNvSpPr/>
          <p:nvPr/>
        </p:nvSpPr>
        <p:spPr>
          <a:xfrm>
            <a:off x="7406640" y="320040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6" name="Text 44"/>
          <p:cNvSpPr/>
          <p:nvPr/>
        </p:nvSpPr>
        <p:spPr>
          <a:xfrm>
            <a:off x="7571232" y="32004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 total da operação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71232" y="34015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 meses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406640" y="38404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9" name="Shape 47"/>
          <p:cNvSpPr/>
          <p:nvPr/>
        </p:nvSpPr>
        <p:spPr>
          <a:xfrm>
            <a:off x="7406640" y="3959352"/>
            <a:ext cx="36576" cy="56692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50" name="Text 48"/>
          <p:cNvSpPr/>
          <p:nvPr/>
        </p:nvSpPr>
        <p:spPr>
          <a:xfrm>
            <a:off x="7571232" y="39593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Expectativa de contemplação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71232" y="4160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12º mês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406640" y="4599432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3" name="Shape 51"/>
          <p:cNvSpPr/>
          <p:nvPr/>
        </p:nvSpPr>
        <p:spPr>
          <a:xfrm>
            <a:off x="7406640" y="4709160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4" name="Shape 52"/>
          <p:cNvSpPr/>
          <p:nvPr/>
        </p:nvSpPr>
        <p:spPr>
          <a:xfrm>
            <a:off x="7406640" y="4782312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5" name="Text 53"/>
          <p:cNvSpPr/>
          <p:nvPr/>
        </p:nvSpPr>
        <p:spPr>
          <a:xfrm>
            <a:off x="7571232" y="47823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71232" y="49834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8,52% a.a.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406640" y="5458968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8" name="Shape 56"/>
          <p:cNvSpPr/>
          <p:nvPr/>
        </p:nvSpPr>
        <p:spPr>
          <a:xfrm>
            <a:off x="7406640" y="553212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9" name="Text 57"/>
          <p:cNvSpPr/>
          <p:nvPr/>
        </p:nvSpPr>
        <p:spPr>
          <a:xfrm>
            <a:off x="7571232" y="55321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57332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0,6854% a.m.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2  —  Contemplação no 12º mês  —  Tabela de parcelas  (1/1)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17957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140360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162763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185166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207568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229971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Shape 34"/>
          <p:cNvSpPr/>
          <p:nvPr/>
        </p:nvSpPr>
        <p:spPr>
          <a:xfrm>
            <a:off x="411480" y="252374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0" name="Shape 38"/>
          <p:cNvSpPr/>
          <p:nvPr/>
        </p:nvSpPr>
        <p:spPr>
          <a:xfrm>
            <a:off x="411480" y="274777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4" name="Shape 42"/>
          <p:cNvSpPr/>
          <p:nvPr/>
        </p:nvSpPr>
        <p:spPr>
          <a:xfrm>
            <a:off x="411480" y="297180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8" name="Shape 46"/>
          <p:cNvSpPr/>
          <p:nvPr/>
        </p:nvSpPr>
        <p:spPr>
          <a:xfrm>
            <a:off x="411480" y="319582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9" name="Text 4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2" name="Shape 50"/>
          <p:cNvSpPr/>
          <p:nvPr/>
        </p:nvSpPr>
        <p:spPr>
          <a:xfrm>
            <a:off x="411480" y="341985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3" name="Text 51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6" name="Shape 54"/>
          <p:cNvSpPr/>
          <p:nvPr/>
        </p:nvSpPr>
        <p:spPr>
          <a:xfrm>
            <a:off x="411480" y="364388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3" name="Text 61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4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2" name="Text 70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Text 73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Text 76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Text 82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7" name="Text 85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0" name="Text 88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23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3" name="Text 91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24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6" name="Shape 94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7" name="Text 95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25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26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5" name="Text 103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27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28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1" name="Text 109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29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30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31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32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33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34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35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36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37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38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39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40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41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42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43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44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Text 157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45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2" name="Text 160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46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5" name="Text 163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47</a:t>
            </a:r>
            <a:endParaRPr lang="en-US" sz="900" dirty="0"/>
          </a:p>
        </p:txBody>
      </p:sp>
      <p:sp>
        <p:nvSpPr>
          <p:cNvPr id="166" name="Text 164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8" name="Text 166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48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1" name="Shape 16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3  —  Contemplação no 24º mês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822960"/>
            <a:ext cx="27432" cy="557784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EM REAIS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2527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R$ 1.500.000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19110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 de crédito contratada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86000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2860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(30%)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R$ 450.000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Retirado da carta para uso como lance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319272"/>
            <a:ext cx="6400800" cy="978408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19272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31927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desconto do lance embutido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325112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352544"/>
            <a:ext cx="36576" cy="850392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35254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 (5%)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4581144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R$ 75.000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" y="50109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 do próprio bolso como lance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5358384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385816"/>
            <a:ext cx="36576" cy="850392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53858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561441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R$ 975.000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1792" y="604418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além do capital investido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822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10972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Shape 33"/>
          <p:cNvSpPr/>
          <p:nvPr/>
        </p:nvSpPr>
        <p:spPr>
          <a:xfrm>
            <a:off x="7406640" y="123444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6" name="Text 34"/>
          <p:cNvSpPr/>
          <p:nvPr/>
        </p:nvSpPr>
        <p:spPr>
          <a:xfrm>
            <a:off x="7571232" y="12344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 de administração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71232" y="14356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19,00%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406640" y="1892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6640" y="20116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0" name="Text 38"/>
          <p:cNvSpPr/>
          <p:nvPr/>
        </p:nvSpPr>
        <p:spPr>
          <a:xfrm>
            <a:off x="7571232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Fundo de reserva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71232" y="22128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3,00%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406640" y="267004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27889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306324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5" name="Shape 43"/>
          <p:cNvSpPr/>
          <p:nvPr/>
        </p:nvSpPr>
        <p:spPr>
          <a:xfrm>
            <a:off x="7406640" y="320040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6" name="Text 44"/>
          <p:cNvSpPr/>
          <p:nvPr/>
        </p:nvSpPr>
        <p:spPr>
          <a:xfrm>
            <a:off x="7571232" y="32004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 total da operação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71232" y="34015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 meses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406640" y="38404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9" name="Shape 47"/>
          <p:cNvSpPr/>
          <p:nvPr/>
        </p:nvSpPr>
        <p:spPr>
          <a:xfrm>
            <a:off x="7406640" y="3959352"/>
            <a:ext cx="36576" cy="566928"/>
          </a:xfrm>
          <a:prstGeom prst="rect">
            <a:avLst/>
          </a:prstGeom>
          <a:solidFill>
            <a:srgbClr val="967439"/>
          </a:solidFill>
          <a:ln/>
        </p:spPr>
      </p:sp>
      <p:sp>
        <p:nvSpPr>
          <p:cNvPr id="50" name="Text 48"/>
          <p:cNvSpPr/>
          <p:nvPr/>
        </p:nvSpPr>
        <p:spPr>
          <a:xfrm>
            <a:off x="7571232" y="39593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Expectativa de contemplação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71232" y="4160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24º mês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406640" y="4599432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3" name="Shape 51"/>
          <p:cNvSpPr/>
          <p:nvPr/>
        </p:nvSpPr>
        <p:spPr>
          <a:xfrm>
            <a:off x="7406640" y="4709160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4" name="Shape 52"/>
          <p:cNvSpPr/>
          <p:nvPr/>
        </p:nvSpPr>
        <p:spPr>
          <a:xfrm>
            <a:off x="7406640" y="4782312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5" name="Text 53"/>
          <p:cNvSpPr/>
          <p:nvPr/>
        </p:nvSpPr>
        <p:spPr>
          <a:xfrm>
            <a:off x="7571232" y="47823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71232" y="49834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9,38% a.a.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406640" y="5458968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</p:sp>
      <p:sp>
        <p:nvSpPr>
          <p:cNvPr id="58" name="Shape 56"/>
          <p:cNvSpPr/>
          <p:nvPr/>
        </p:nvSpPr>
        <p:spPr>
          <a:xfrm>
            <a:off x="7406640" y="553212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9" name="Text 57"/>
          <p:cNvSpPr/>
          <p:nvPr/>
        </p:nvSpPr>
        <p:spPr>
          <a:xfrm>
            <a:off x="7571232" y="55321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57332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0,7512% a.m.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3  —  Contemplação no 24º mês  —  Tabela de parcelas  (1/1)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17957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140360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162763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185166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207568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229971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6" name="Shape 34"/>
          <p:cNvSpPr/>
          <p:nvPr/>
        </p:nvSpPr>
        <p:spPr>
          <a:xfrm>
            <a:off x="411480" y="252374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0" name="Shape 38"/>
          <p:cNvSpPr/>
          <p:nvPr/>
        </p:nvSpPr>
        <p:spPr>
          <a:xfrm>
            <a:off x="411480" y="274777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4" name="Shape 42"/>
          <p:cNvSpPr/>
          <p:nvPr/>
        </p:nvSpPr>
        <p:spPr>
          <a:xfrm>
            <a:off x="411480" y="297180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8" name="Shape 46"/>
          <p:cNvSpPr/>
          <p:nvPr/>
        </p:nvSpPr>
        <p:spPr>
          <a:xfrm>
            <a:off x="411480" y="319582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49" name="Text 4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2" name="Shape 50"/>
          <p:cNvSpPr/>
          <p:nvPr/>
        </p:nvSpPr>
        <p:spPr>
          <a:xfrm>
            <a:off x="411480" y="341985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3" name="Text 51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6" name="Shape 54"/>
          <p:cNvSpPr/>
          <p:nvPr/>
        </p:nvSpPr>
        <p:spPr>
          <a:xfrm>
            <a:off x="411480" y="364388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57" name="Text 55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0" name="Shape 58"/>
          <p:cNvSpPr/>
          <p:nvPr/>
        </p:nvSpPr>
        <p:spPr>
          <a:xfrm>
            <a:off x="411480" y="386791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61" name="Text 59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4" name="Shape 62"/>
          <p:cNvSpPr/>
          <p:nvPr/>
        </p:nvSpPr>
        <p:spPr>
          <a:xfrm>
            <a:off x="411480" y="409194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65" name="Text 63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8" name="Shape 66"/>
          <p:cNvSpPr/>
          <p:nvPr/>
        </p:nvSpPr>
        <p:spPr>
          <a:xfrm>
            <a:off x="411480" y="431596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69" name="Text 67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2" name="Shape 70"/>
          <p:cNvSpPr/>
          <p:nvPr/>
        </p:nvSpPr>
        <p:spPr>
          <a:xfrm>
            <a:off x="411480" y="453999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3" name="Text 71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6" name="Shape 74"/>
          <p:cNvSpPr/>
          <p:nvPr/>
        </p:nvSpPr>
        <p:spPr>
          <a:xfrm>
            <a:off x="411480" y="476402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7" name="Text 75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0" name="Shape 78"/>
          <p:cNvSpPr/>
          <p:nvPr/>
        </p:nvSpPr>
        <p:spPr>
          <a:xfrm>
            <a:off x="411480" y="498805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81" name="Text 79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84" name="Shape 82"/>
          <p:cNvSpPr/>
          <p:nvPr/>
        </p:nvSpPr>
        <p:spPr>
          <a:xfrm>
            <a:off x="411480" y="521208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85" name="Text 83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11480" y="543610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89" name="Text 8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2" name="Shape 90"/>
          <p:cNvSpPr/>
          <p:nvPr/>
        </p:nvSpPr>
        <p:spPr>
          <a:xfrm>
            <a:off x="411480" y="566013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3" name="Text 91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11480" y="588416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97" name="Text 95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0" name="Shape 98"/>
          <p:cNvSpPr/>
          <p:nvPr/>
        </p:nvSpPr>
        <p:spPr>
          <a:xfrm>
            <a:off x="411480" y="610819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01" name="Text 99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23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411480" y="633222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05" name="Text 103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24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8" name="Shape 106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9" name="Text 107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25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26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7" name="Text 115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27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28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29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6" name="Text 124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30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9" name="Text 127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31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2" name="Text 130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32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5" name="Text 133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33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34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1" name="Text 139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35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4" name="Text 142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36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7" name="Text 145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37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38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3" name="Text 151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39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Text 154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40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9" name="Text 157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41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2" name="Text 160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42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5" name="Text 163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43</a:t>
            </a:r>
            <a:endParaRPr lang="en-US" sz="900" dirty="0"/>
          </a:p>
        </p:txBody>
      </p:sp>
      <p:sp>
        <p:nvSpPr>
          <p:cNvPr id="166" name="Text 164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8" name="Text 166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44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1" name="Text 169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45</a:t>
            </a:r>
            <a:endParaRPr lang="en-US" sz="900" dirty="0"/>
          </a:p>
        </p:txBody>
      </p:sp>
      <p:sp>
        <p:nvSpPr>
          <p:cNvPr id="172" name="Text 170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74" name="Text 172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46</a:t>
            </a:r>
            <a:endParaRPr lang="en-US" sz="900" dirty="0"/>
          </a:p>
        </p:txBody>
      </p:sp>
      <p:sp>
        <p:nvSpPr>
          <p:cNvPr id="175" name="Text 173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76" name="Shape 174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7" name="Text 175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47</a:t>
            </a:r>
            <a:endParaRPr lang="en-US" sz="900" dirty="0"/>
          </a:p>
        </p:txBody>
      </p:sp>
      <p:sp>
        <p:nvSpPr>
          <p:cNvPr id="178" name="Text 176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79" name="Shape 177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80" name="Text 178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48</a:t>
            </a:r>
            <a:endParaRPr lang="en-US" sz="900" dirty="0"/>
          </a:p>
        </p:txBody>
      </p:sp>
      <p:sp>
        <p:nvSpPr>
          <p:cNvPr id="181" name="Text 179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82" name="Shape 180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3" name="Shape 181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85" name="Text 183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Observações importantes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Trata-se de uma cotação indicativa.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47088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47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84708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 valores informados são projeções baseadas no estudo do histórico de contemplações do grupo selecionado.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05456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054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505456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reduzida em 30% até a contemplação, conforme condições previamente estabelecidas.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72384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163824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63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16382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valor de crédito contratado, as parcelas e os lances serão corrigidos anualmente por uma taxa pré-fixada de 3% ao ano.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822192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22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382219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operação está sujeita à análise e aprovação da administradora.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Fale com a nossa equipe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Leblon  |  RJ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Ataulfo de Paiva, 204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201  •  CEP 22.440-033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01568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1568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Barra da Tijuca  |  RJ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38728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das Américas, 3500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Bloco 7, sl. 226 e 227  •  CEP 22.640-102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45936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45936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5" name="Text 13"/>
          <p:cNvSpPr/>
          <p:nvPr/>
        </p:nvSpPr>
        <p:spPr>
          <a:xfrm>
            <a:off x="6483096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Itaim Bibi  |  SP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83096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Rua Bandeira Paulista, 600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92  •  CEP 04.532-001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90304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90304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19" name="Text 17"/>
          <p:cNvSpPr/>
          <p:nvPr/>
        </p:nvSpPr>
        <p:spPr>
          <a:xfrm>
            <a:off x="9427464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Alphaville  |  SP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27464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Cauaxi, 293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1915 e 1916  •  CEP 06.472-001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11247120" cy="45720"/>
          </a:xfrm>
          <a:prstGeom prst="rect">
            <a:avLst/>
          </a:prstGeom>
          <a:solidFill>
            <a:srgbClr val="8CCFB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Contatos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4206240" cy="11887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Luca Bellandi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(11) 98700-8555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4160520"/>
            <a:ext cx="4206240" cy="11887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Pedro Ramires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(11) 99542-7151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solidFill>
            <a:srgbClr val="003D29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Proposta Comparativa — Ana Rodrigues (PF Tradicional)</dc:subject>
  <dc:creator>Somus Capital</dc:creator>
  <cp:lastModifiedBy>Somus Capital</cp:lastModifiedBy>
  <cp:revision>1</cp:revision>
  <dcterms:created xsi:type="dcterms:W3CDTF">2026-03-24T13:12:40Z</dcterms:created>
  <dcterms:modified xsi:type="dcterms:W3CDTF">2026-03-24T13:12:40Z</dcterms:modified>
</cp:coreProperties>
</file>