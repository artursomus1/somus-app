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3" name="Shape 1"/>
          <p:cNvSpPr/>
          <p:nvPr/>
        </p:nvSpPr>
        <p:spPr>
          <a:xfrm>
            <a:off x="7982712" y="0"/>
            <a:ext cx="36576" cy="68580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ESTRUTURADO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132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Proposta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Crédito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Estruturado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Fábio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3200400" cy="2743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321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Dezembro 2025</a:t>
            </a:r>
            <a:endParaRPr lang="en-US" sz="1100" dirty="0"/>
          </a:p>
        </p:txBody>
      </p:sp>
      <p:pic>
        <p:nvPicPr>
          <p:cNvPr id="9" name="Image 0" descr="C:\Users\Pedro Paulo Aguilar\Documents\Somus_Templates\logo_extraido\somus_logo_pr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210312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Contexto da operação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0" y="822960"/>
            <a:ext cx="27432" cy="57607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AMBIENTE DO NEGÓCIO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12648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54864" cy="502920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2344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NASA Participações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" y="150876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São Paulo, SP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61264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8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de consórcio imobiliário estruturada com carta de crédito de R$ 4.326.000, administrada pelo Itaú. A estratégia combina lance embutido de 30% para contemplação acelerada no mês 12, com correção anual pré-fixada de 3% ao longo dos 225 meses de prazo.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57200" y="5120640"/>
            <a:ext cx="1920240" cy="91440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5120640"/>
            <a:ext cx="192024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19379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R$ 4.300.000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55778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Carta de crédito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2032" y="5120640"/>
            <a:ext cx="1920240" cy="91440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42032" y="5120640"/>
            <a:ext cx="192024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8" name="Text 16"/>
          <p:cNvSpPr/>
          <p:nvPr/>
        </p:nvSpPr>
        <p:spPr>
          <a:xfrm>
            <a:off x="2633472" y="519379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633472" y="55778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Meses de prazo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26864" y="5120640"/>
            <a:ext cx="1920240" cy="91440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26864" y="5120640"/>
            <a:ext cx="192024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2" name="Text 20"/>
          <p:cNvSpPr/>
          <p:nvPr/>
        </p:nvSpPr>
        <p:spPr>
          <a:xfrm>
            <a:off x="4718304" y="519379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Mês 12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18304" y="55778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estimada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086600" y="8229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OBJETIVO DA PROPOSTA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086600" y="1097280"/>
            <a:ext cx="466344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6" name="Shape 24"/>
          <p:cNvSpPr/>
          <p:nvPr/>
        </p:nvSpPr>
        <p:spPr>
          <a:xfrm>
            <a:off x="7086600" y="1234440"/>
            <a:ext cx="54864" cy="502920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27" name="Text 25"/>
          <p:cNvSpPr/>
          <p:nvPr/>
        </p:nvSpPr>
        <p:spPr>
          <a:xfrm>
            <a:off x="7287768" y="1234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Aquisição de imóvel via consórcio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87768" y="150876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Horizonte de 225 meses (18 anos e 9 meses)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086600" y="187452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Captação de crédito de R$ 4.326.000 via consórcio estruturado, preservando caixa e otimizando o custo de aquisição.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086600" y="4069080"/>
            <a:ext cx="347472" cy="347472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31" name="Text 29"/>
          <p:cNvSpPr/>
          <p:nvPr/>
        </p:nvSpPr>
        <p:spPr>
          <a:xfrm>
            <a:off x="7086600" y="4069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16368" y="408736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Carta de crédito de R$ 4.326.000 com correção anual de 3% pré-fixado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086600" y="4873752"/>
            <a:ext cx="347472" cy="347472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34" name="Text 32"/>
          <p:cNvSpPr/>
          <p:nvPr/>
        </p:nvSpPr>
        <p:spPr>
          <a:xfrm>
            <a:off x="7086600" y="48737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516368" y="48920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estimada no mês 12 via lance embutido (30%) + lance próprio (47%)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086600" y="5678424"/>
            <a:ext cx="347472" cy="347472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37" name="Text 35"/>
          <p:cNvSpPr/>
          <p:nvPr/>
        </p:nvSpPr>
        <p:spPr>
          <a:xfrm>
            <a:off x="7086600" y="56784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516368" y="569671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efetivo de R$ 994.980 após lances totais de R$ 3.331.020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Principais dados da operação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86600" y="822960"/>
            <a:ext cx="27432" cy="55778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VALORES EM REAIS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25272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R$ 4.326.000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" y="191109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 de crédito contratada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167128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86000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2860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embutido (30%)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251460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R$ 1.297.800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" y="29443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Retirado da carta para uso como lance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227832"/>
            <a:ext cx="6400800" cy="1005840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19272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31927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" y="3547872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R$ 3.028.200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" y="397764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Após desconto do lance embutido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233672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352544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352544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com recurso próprio (47%)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" y="4581144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R$ 2.033.220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" y="501091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Pago do próprio bolso como lance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5266944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5385816"/>
            <a:ext cx="36576" cy="850392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5385816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efetivo (dinheiro novo)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5614416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R$ 994.980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21792" y="604418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realmente financiado pelo consórcio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406640" y="8229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06640" y="10972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5" name="Shape 33"/>
          <p:cNvSpPr/>
          <p:nvPr/>
        </p:nvSpPr>
        <p:spPr>
          <a:xfrm>
            <a:off x="7406640" y="123444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6" name="Text 34"/>
          <p:cNvSpPr/>
          <p:nvPr/>
        </p:nvSpPr>
        <p:spPr>
          <a:xfrm>
            <a:off x="7571232" y="12344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 de administração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571232" y="14356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20,00%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406640" y="189280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9" name="Shape 37"/>
          <p:cNvSpPr/>
          <p:nvPr/>
        </p:nvSpPr>
        <p:spPr>
          <a:xfrm>
            <a:off x="7406640" y="201168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0" name="Text 38"/>
          <p:cNvSpPr/>
          <p:nvPr/>
        </p:nvSpPr>
        <p:spPr>
          <a:xfrm>
            <a:off x="7571232" y="20116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Fundo de reserva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71232" y="22128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3,00%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7406640" y="267004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3" name="Text 41"/>
          <p:cNvSpPr/>
          <p:nvPr/>
        </p:nvSpPr>
        <p:spPr>
          <a:xfrm>
            <a:off x="7406640" y="276148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06640" y="303580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5" name="Shape 43"/>
          <p:cNvSpPr/>
          <p:nvPr/>
        </p:nvSpPr>
        <p:spPr>
          <a:xfrm>
            <a:off x="7406640" y="3182112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6" name="Text 44"/>
          <p:cNvSpPr/>
          <p:nvPr/>
        </p:nvSpPr>
        <p:spPr>
          <a:xfrm>
            <a:off x="7571232" y="318211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 total da operação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571232" y="33832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225 meses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7406640" y="38404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9" name="Shape 47"/>
          <p:cNvSpPr/>
          <p:nvPr/>
        </p:nvSpPr>
        <p:spPr>
          <a:xfrm>
            <a:off x="7406640" y="3959352"/>
            <a:ext cx="36576" cy="56692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50" name="Text 48"/>
          <p:cNvSpPr/>
          <p:nvPr/>
        </p:nvSpPr>
        <p:spPr>
          <a:xfrm>
            <a:off x="7571232" y="395935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Expectativa de contemplação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571232" y="41605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Mês 12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7406640" y="461772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3" name="Shape 51"/>
          <p:cNvSpPr/>
          <p:nvPr/>
        </p:nvSpPr>
        <p:spPr>
          <a:xfrm>
            <a:off x="7406640" y="4681728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4" name="Shape 52"/>
          <p:cNvSpPr/>
          <p:nvPr/>
        </p:nvSpPr>
        <p:spPr>
          <a:xfrm>
            <a:off x="7406640" y="475488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5" name="Text 53"/>
          <p:cNvSpPr/>
          <p:nvPr/>
        </p:nvSpPr>
        <p:spPr>
          <a:xfrm>
            <a:off x="7571232" y="47548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71232" y="49560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9,79% a.a.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406640" y="5431536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8" name="Shape 56"/>
          <p:cNvSpPr/>
          <p:nvPr/>
        </p:nvSpPr>
        <p:spPr>
          <a:xfrm>
            <a:off x="7406640" y="5504688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9" name="Text 57"/>
          <p:cNvSpPr/>
          <p:nvPr/>
        </p:nvSpPr>
        <p:spPr>
          <a:xfrm>
            <a:off x="7571232" y="550468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571232" y="570585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0,7812% a.m.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Estrutura da operação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0" y="822960"/>
            <a:ext cx="27432" cy="57607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ESTRUTURA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12648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54864" cy="502920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2344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Consórcio estruturado Itaú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150876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Grupos pré-fixados  •  Correção anual de 3% pré-fixado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847088"/>
            <a:ext cx="6126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operação utiliza consórcio imobiliário com carta de crédito de R$ 4.326.000, administrado pelo Itaú. A estratégia combina lance embutido de 30% (R$ 1.297.800) com lance próprio de 47% (R$ 2.033.220), totalizando R$ 3.331.020 em lances e garantindo contemplação estimada no mês 12. As parcelas são corrigidas anualmente em 3% pré-fixado ao longo dos 225 meses de prazo.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4251960"/>
            <a:ext cx="2926080" cy="80467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4251960"/>
            <a:ext cx="292608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34340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Administradora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4572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Itaú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02736" y="4251960"/>
            <a:ext cx="2926080" cy="80467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02736" y="4251960"/>
            <a:ext cx="292608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8" name="Text 16"/>
          <p:cNvSpPr/>
          <p:nvPr/>
        </p:nvSpPr>
        <p:spPr>
          <a:xfrm>
            <a:off x="3739896" y="434340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739896" y="4572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3% pré-fixado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193792"/>
            <a:ext cx="2926080" cy="80467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193792"/>
            <a:ext cx="292608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52852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Captação em até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4360" y="55138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meses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02736" y="5193792"/>
            <a:ext cx="2926080" cy="80467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02736" y="5193792"/>
            <a:ext cx="292608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6" name="Text 24"/>
          <p:cNvSpPr/>
          <p:nvPr/>
        </p:nvSpPr>
        <p:spPr>
          <a:xfrm>
            <a:off x="3739896" y="52852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de lances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739896" y="55138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R$ 3.331.020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86600" y="8229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CRONOGRAMA DA OPERAÇÃO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086600" y="1097280"/>
            <a:ext cx="466344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8"/>
          <p:cNvSpPr/>
          <p:nvPr/>
        </p:nvSpPr>
        <p:spPr>
          <a:xfrm>
            <a:off x="7086600" y="1207008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no mês 12 via lance embutido (30%) + lance próprio (47%), seguida de amortização em 213 meses com parcelas corrigidas anualmente em 3% pré-fixado.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35240" y="2697480"/>
            <a:ext cx="36576" cy="27889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2" name="Shape 30"/>
          <p:cNvSpPr/>
          <p:nvPr/>
        </p:nvSpPr>
        <p:spPr>
          <a:xfrm>
            <a:off x="7479792" y="2788920"/>
            <a:ext cx="347472" cy="347472"/>
          </a:xfrm>
          <a:prstGeom prst="ellipse">
            <a:avLst/>
          </a:prstGeom>
          <a:solidFill>
            <a:srgbClr val="8CCFB4"/>
          </a:solidFill>
          <a:ln w="12700">
            <a:solidFill>
              <a:srgbClr val="8CCFB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79792" y="2788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936992" y="27614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Meses 1 – 12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936992" y="2944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Pré-contemplação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936992" y="32186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de R$ 16.554,16 com acúmulo do lance embutido de 30%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479792" y="3703320"/>
            <a:ext cx="347472" cy="347472"/>
          </a:xfrm>
          <a:prstGeom prst="ellipse">
            <a:avLst/>
          </a:prstGeom>
          <a:solidFill>
            <a:srgbClr val="8CCFB4"/>
          </a:solidFill>
          <a:ln w="12700">
            <a:solidFill>
              <a:srgbClr val="8CCFB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79792" y="37033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936992" y="36758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Mês 12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936992" y="3858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via lances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936992" y="41330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embutido 30% (R$ 1.297.800) + lance próprio 47% (R$ 2.033.220) = R$ 3.331.020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479792" y="4617720"/>
            <a:ext cx="347472" cy="347472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79792" y="4617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936992" y="45902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Meses 13 – 225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936992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Pós-contemplação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7936992" y="50474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a partir de R$ 8.662,20 com correção anual de 3% pré-fixado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de parcelas  —  Página 1 de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  |  Inclui seguro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 (valor reduzido em 30%)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117957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140360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162763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185166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" y="207568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229971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Shape 34"/>
          <p:cNvSpPr/>
          <p:nvPr/>
        </p:nvSpPr>
        <p:spPr>
          <a:xfrm>
            <a:off x="411480" y="252374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7" name="Text 35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0" name="Shape 38"/>
          <p:cNvSpPr/>
          <p:nvPr/>
        </p:nvSpPr>
        <p:spPr>
          <a:xfrm>
            <a:off x="411480" y="274777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4" name="Shape 42"/>
          <p:cNvSpPr/>
          <p:nvPr/>
        </p:nvSpPr>
        <p:spPr>
          <a:xfrm>
            <a:off x="411480" y="297180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8" name="Shape 46"/>
          <p:cNvSpPr/>
          <p:nvPr/>
        </p:nvSpPr>
        <p:spPr>
          <a:xfrm>
            <a:off x="411480" y="319582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9" name="Text 4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2" name="Shape 50"/>
          <p:cNvSpPr/>
          <p:nvPr/>
        </p:nvSpPr>
        <p:spPr>
          <a:xfrm>
            <a:off x="411480" y="341985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3" name="Text 51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6" name="Shape 54"/>
          <p:cNvSpPr/>
          <p:nvPr/>
        </p:nvSpPr>
        <p:spPr>
          <a:xfrm>
            <a:off x="411480" y="364388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Text 82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7" name="Text 85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0" name="Text 88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23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3" name="Text 91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24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6" name="Shape 94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7" name="Text 95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25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26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27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28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29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30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31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32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33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34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35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36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37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38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39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40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41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42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43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44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Text 157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45</a:t>
            </a:r>
            <a:endParaRPr lang="en-US" sz="900" dirty="0"/>
          </a:p>
        </p:txBody>
      </p:sp>
      <p:sp>
        <p:nvSpPr>
          <p:cNvPr id="160" name="Text 158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2" name="Text 160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46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65" name="Text 163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47</a:t>
            </a:r>
            <a:endParaRPr lang="en-US" sz="900" dirty="0"/>
          </a:p>
        </p:txBody>
      </p:sp>
      <p:sp>
        <p:nvSpPr>
          <p:cNvPr id="166" name="Text 164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8" name="Text 166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48</a:t>
            </a:r>
            <a:endParaRPr lang="en-US" sz="900" dirty="0"/>
          </a:p>
        </p:txBody>
      </p:sp>
      <p:sp>
        <p:nvSpPr>
          <p:cNvPr id="169" name="Text 167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1" name="Shape 16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73" name="Text 17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de parcelas  —  Página 2 de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  |  Inclui seguro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 (valor reduzido em 30%)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49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1" name="Text 49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4" name="Text 52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63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65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66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67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68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69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70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71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72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Shape 82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5" name="Text 83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73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0" name="Text 88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74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3" name="Text 91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75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6" name="Text 94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76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9" name="Text 97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77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78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79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80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81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82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83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84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85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86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87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88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89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90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91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92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93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94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95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96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Shape 157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61" name="Text 159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de parcelas  —  Página 3 de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  |  Inclui seguro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 (valor reduzido em 30%)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108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1" name="Text 49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4" name="Text 52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111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116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117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118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119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120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Shape 82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5" name="Text 83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121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0" name="Text 88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122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3" name="Text 91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123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6" name="Text 94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124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9" name="Text 97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125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126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127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128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129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130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131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132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133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134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135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136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137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138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139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140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141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142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143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144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Shape 157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61" name="Text 159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de parcelas  —  Página 4 de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  |  Inclui seguro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 (valor reduzido em 30%)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157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1" name="Text 49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158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4" name="Text 52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159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160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161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162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163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164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165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166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167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168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Shape 82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5" name="Text 83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169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0" name="Text 88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170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3" name="Text 91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171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6" name="Text 94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172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9" name="Text 97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173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174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175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176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177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178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179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180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181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182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183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184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185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186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187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188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189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190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191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192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Shape 157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61" name="Text 159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de parcelas  —  Página 5 de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  |  Inclui seguro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 (valor reduzido em 30%)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1" name="Text 49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4" name="Text 52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207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208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209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210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211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212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213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214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215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216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Shape 82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5" name="Text 83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217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0" name="Text 88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218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3" name="Text 91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219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6" name="Text 94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220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9" name="Text 97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221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222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223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224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225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Observações importantes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Trata-se de uma cotação indicativa.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47088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47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84708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Os valores informados são projeções baseadas no estudo do histórico de contemplações do grupo selecionado.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05456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054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505456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reduzida em 30% até a contemplação, conforme condições previamente estabelecidas.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72384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163824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638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3163824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 modalidade de lance fixo, a contemplação está sujeita ao sorteio de cotas dos grupos.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30752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822192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22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382219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valor de crédito contratado, as parcelas e os lances serão corrigidos anualmente por uma taxa pré-fixada de 3% ao ano.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389120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480560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80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4480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operação está sujeita à análise e aprovação da administradora.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Fale com a nossa equipe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Leblon  |  RJ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Ataulfo de Paiva, 204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201  •  CEP 22.440-033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01568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01568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Barra da Tijuca  |  RJ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38728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das Américas, 3500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Bloco 7, sl. 226 e 227  •  CEP 22.640-102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45936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45936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5" name="Text 13"/>
          <p:cNvSpPr/>
          <p:nvPr/>
        </p:nvSpPr>
        <p:spPr>
          <a:xfrm>
            <a:off x="6483096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Itaim Bibi  |  SP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83096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Rua Bandeira Paulista, 600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92  •  CEP 04.532-001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290304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290304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9" name="Text 17"/>
          <p:cNvSpPr/>
          <p:nvPr/>
        </p:nvSpPr>
        <p:spPr>
          <a:xfrm>
            <a:off x="9427464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Alphaville  |  SP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27464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Cauaxi, 293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1915 e 1916  •  CEP 06.472-001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1124712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Contatos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4206240" cy="11887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97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Luca Bellandi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663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(11) 98700-8555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0" y="4160520"/>
            <a:ext cx="4206240" cy="11887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4297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Pedro Ramires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4663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(11) 99542-7151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solidFill>
            <a:srgbClr val="003D29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Proposta de Crédito Estruturado — Fábio</dc:subject>
  <dc:creator>Somus Capital</dc:creator>
  <cp:lastModifiedBy>Somus Capital</cp:lastModifiedBy>
  <cp:revision>1</cp:revision>
  <dcterms:created xsi:type="dcterms:W3CDTF">2026-03-24T13:12:33Z</dcterms:created>
  <dcterms:modified xsi:type="dcterms:W3CDTF">2026-03-24T13:12:33Z</dcterms:modified>
</cp:coreProperties>
</file>