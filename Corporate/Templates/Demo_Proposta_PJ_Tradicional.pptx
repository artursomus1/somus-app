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ESTRUTURADO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Crédito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Estruturado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Fábio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Dezembro 2025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Contexto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AMBIENTE DO NEGÓCIO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NASA Participações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São Paulo, SP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8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de consórcio imobiliário estruturada com carta de crédito de R$ 4.326.000, administrada pelo Itaú. A estratégia combina lance embutido de 30% para contemplação acelerada no mês 12, com correção anual pré-fixada de 3% ao longo dos 225 meses de prazo.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57200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R$ 4.300.000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42032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8" name="Text 16"/>
          <p:cNvSpPr/>
          <p:nvPr/>
        </p:nvSpPr>
        <p:spPr>
          <a:xfrm>
            <a:off x="2633472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33472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de prazo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26864" y="512064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5120640"/>
            <a:ext cx="192024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5193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18304" y="5577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DA PROPOSTA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27" name="Text 25"/>
          <p:cNvSpPr/>
          <p:nvPr/>
        </p:nvSpPr>
        <p:spPr>
          <a:xfrm>
            <a:off x="7287768" y="1234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Aquisição de imóvel via consórcio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87768" y="15087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Horizonte de 225 meses (18 anos e 9 meses)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86600" y="187452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de crédito de R$ 4.326.000 via consórcio estruturado, preservando caixa e otimizando o custo de aquisição.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16368" y="40873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 de crédito de R$ 4.326.000 com correção anual de 3% pré-fixado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4873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16368" y="4892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 no mês 12 via lance embutido (30%) + lance próprio (47%)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37" name="Text 35"/>
          <p:cNvSpPr/>
          <p:nvPr/>
        </p:nvSpPr>
        <p:spPr>
          <a:xfrm>
            <a:off x="7086600" y="5678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16368" y="56967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de R$ 994.980 após lances totais de R$ 3.331.020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Principais dados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R$ 4.326.000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R$ 1.297.800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27832"/>
            <a:ext cx="6400800" cy="1005840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R$ 3.028.200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com recurso próprio (47%)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R$ 2.033.220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26694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R$ 994.980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realmente financiado pelo consórcio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6148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35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1821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1821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3832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225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61772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68172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548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548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56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9,79%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31536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04688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0468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058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0,7812%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 da operação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27432" cy="57607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12648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estruturado Itaú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Grupos pré-fixados  •  Correção anual de 3% pré-fixado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6126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utiliza consórcio imobiliário com carta de crédito de R$ 4.326.000, administrado pelo Itaú. A estratégia combina lance embutido de 30% (R$ 1.297.800) com lance próprio de 47% (R$ 2.033.220), totalizando R$ 3.331.020 em lances e garantindo contemplação estimada no mês 12. As parcelas são corrigidas anualmente em 3% pré-fixado ao longo dos 225 meses de prazo.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Administradora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02736" y="4251960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4251960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8" name="Text 16"/>
          <p:cNvSpPr/>
          <p:nvPr/>
        </p:nvSpPr>
        <p:spPr>
          <a:xfrm>
            <a:off x="3739896" y="43434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39896" y="4572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3% pré-fixado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Captação em até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meses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02736" y="5193792"/>
            <a:ext cx="2926080" cy="804672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02736" y="5193792"/>
            <a:ext cx="292608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6" name="Text 24"/>
          <p:cNvSpPr/>
          <p:nvPr/>
        </p:nvSpPr>
        <p:spPr>
          <a:xfrm>
            <a:off x="3739896" y="52852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de lances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39896" y="5513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R$ 3.331.020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822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CRONOGRAMA DA OPERAÇÃO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86600" y="1097280"/>
            <a:ext cx="466344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1207008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mês 12 via lance embutido (30%) + lance próprio (47%), seguida de amortização em 213 meses com parcelas corrigidas anualmente em 3% pré-fixado.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2697480"/>
            <a:ext cx="36576" cy="278892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Shape 30"/>
          <p:cNvSpPr/>
          <p:nvPr/>
        </p:nvSpPr>
        <p:spPr>
          <a:xfrm>
            <a:off x="7479792" y="27889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36992" y="2761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 –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36992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Pré-contemplação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936992" y="32186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de R$ 16.554,16 com acúmulo do lance embutido de 30%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79792" y="3703320"/>
            <a:ext cx="347472" cy="347472"/>
          </a:xfrm>
          <a:prstGeom prst="ellipse">
            <a:avLst/>
          </a:prstGeom>
          <a:solidFill>
            <a:srgbClr val="8CCFB4"/>
          </a:solidFill>
          <a:ln w="12700">
            <a:solidFill>
              <a:srgbClr val="8CCF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3703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36992" y="3675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Mês 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36992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via lances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936992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30% (R$ 1.297.800) + lance próprio 47% (R$ 2.033.220) = R$ 3.331.020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79792" y="4617720"/>
            <a:ext cx="347472" cy="347472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9792" y="4617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36992" y="4590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Meses 13 – 225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36992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Pós-contemplação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36992" y="5047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a partir de R$ 8.662,20 com correção anual de 3% pré-fixado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1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R$ 16.554,16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R$ 8.662,20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R$ 8.922,07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R$ 9.189,73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2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R$ 9.465,42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R$ 9.749,39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73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R$ 10.041,87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R$ 10.343,12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3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R$ 10.653,42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R$ 10.973,02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122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124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R$ 11.302,21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R$ 11.641,28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4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R$ 11.990,52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164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R$ 12.350,23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169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173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175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176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177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178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179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180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R$ 12.720,74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181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182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183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184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185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186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187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188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189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190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191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192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R$ 13.102,36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Shape 157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de parcelas  —  Página 5 de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  |  Inclui seguro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 (valor reduzido em 30%)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R$ 13.495,43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209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213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214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R$ 13.900,29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217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218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3" name="Text 91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219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220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221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222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223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224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R$ 14.317,30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por uma taxa pré-fixada de 3% ao ano.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de Crédito Estruturado — Fábio</dc:subject>
  <dc:creator>Somus Capital</dc:creator>
  <cp:lastModifiedBy>Somus Capital</cp:lastModifiedBy>
  <cp:revision>1</cp:revision>
  <dcterms:created xsi:type="dcterms:W3CDTF">2026-03-24T13:12:36Z</dcterms:created>
  <dcterms:modified xsi:type="dcterms:W3CDTF">2026-03-24T13:12:36Z</dcterms:modified>
</cp:coreProperties>
</file>