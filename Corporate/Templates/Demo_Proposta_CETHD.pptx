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7982712" y="0"/>
            <a:ext cx="36576" cy="685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ESTRUTURADO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Proposta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Crédito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Estruturado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Fábio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320040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321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Dezembro 2025</a:t>
            </a:r>
            <a:endParaRPr lang="en-US" sz="1100" dirty="0"/>
          </a:p>
        </p:txBody>
      </p:sp>
      <p:pic>
        <p:nvPicPr>
          <p:cNvPr id="9" name="Image 0" descr="C:\Users\Pedro Paulo Aguilar\Documents\Somus_Templates\logo_extraido\somus_logo_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10312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Contexto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822960"/>
            <a:ext cx="27432" cy="57607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AMBIENTE DO NEGÓCIO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12648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502920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NASA Participações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150876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São Paulo, SP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61264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de consórcio imobiliário estruturada com carta de crédito de R$ 4.326.000, administrada pelo Itaú. A estratégia combina lance embutido de 30% para contemplação acelerada no mês 12, com correção anual pré-fixada de 3% ao longo dos 225 meses de prazo.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57200" y="5120640"/>
            <a:ext cx="192024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120640"/>
            <a:ext cx="192024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193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R$ 4.300.000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Carta de crédito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2032" y="5120640"/>
            <a:ext cx="192024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2032" y="5120640"/>
            <a:ext cx="192024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8" name="Text 16"/>
          <p:cNvSpPr/>
          <p:nvPr/>
        </p:nvSpPr>
        <p:spPr>
          <a:xfrm>
            <a:off x="2633472" y="5193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633472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de prazo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26864" y="5120640"/>
            <a:ext cx="192024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5120640"/>
            <a:ext cx="192024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4718304" y="5193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18304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86600" y="822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OBJETIVO DA PROPOSTA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86600" y="1097280"/>
            <a:ext cx="466344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6" name="Shape 24"/>
          <p:cNvSpPr/>
          <p:nvPr/>
        </p:nvSpPr>
        <p:spPr>
          <a:xfrm>
            <a:off x="7086600" y="1234440"/>
            <a:ext cx="54864" cy="502920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27" name="Text 25"/>
          <p:cNvSpPr/>
          <p:nvPr/>
        </p:nvSpPr>
        <p:spPr>
          <a:xfrm>
            <a:off x="7287768" y="1234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Aquisição de imóvel via consórcio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87768" y="15087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Horizonte de 225 meses (18 anos e 9 meses)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086600" y="187452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Captação de crédito de R$ 4.326.000 via consórcio estruturado, preservando caixa e otimizando o custo de aquisição.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86600" y="4069080"/>
            <a:ext cx="347472" cy="347472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31" name="Text 29"/>
          <p:cNvSpPr/>
          <p:nvPr/>
        </p:nvSpPr>
        <p:spPr>
          <a:xfrm>
            <a:off x="7086600" y="4069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16368" y="40873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Carta de crédito de R$ 4.326.000 com correção anual de 3% pré-fixado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86600" y="4873752"/>
            <a:ext cx="347472" cy="347472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4873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16368" y="48920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 no mês 12 via lance embutido (30%) + lance próprio (47%)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86600" y="5678424"/>
            <a:ext cx="347472" cy="347472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37" name="Text 35"/>
          <p:cNvSpPr/>
          <p:nvPr/>
        </p:nvSpPr>
        <p:spPr>
          <a:xfrm>
            <a:off x="7086600" y="5678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16368" y="56967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de R$ 994.980 após lances totais de R$ 3.331.020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Principais dados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R$ 4.326.000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R$ 1.297.800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227832"/>
            <a:ext cx="6400800" cy="1005840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R$ 3.028.200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23367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com recurso próprio (47%)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R$ 2.033.220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26694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R$ 994.980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realmente financiado pelo consórcio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6148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35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1821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1821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3832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225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61772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68172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548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548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560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9,79%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31536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04688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0468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0585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0,7812%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822960"/>
            <a:ext cx="27432" cy="57607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12648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502920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Consórcio estruturado Itaú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50876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Grupos pré-fixados  •  Correção anual de 3% pré-fixado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6126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utiliza consórcio imobiliário com carta de crédito de R$ 4.326.000, administrado pelo Itaú. A estratégia combina lance embutido de 30% (R$ 1.297.800) com lance próprio de 47% (R$ 2.033.220), totalizando R$ 3.331.020 em lances e garantindo contemplação estimada no mês 12. As parcelas são corrigidas anualmente em 3% pré-fixado ao longo dos 225 meses de prazo.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251960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3434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Administradora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4572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02736" y="4251960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02736" y="4251960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8" name="Text 16"/>
          <p:cNvSpPr/>
          <p:nvPr/>
        </p:nvSpPr>
        <p:spPr>
          <a:xfrm>
            <a:off x="3739896" y="43434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39896" y="4572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3% pré-fixado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193792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193792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2852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Captação em até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5513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meses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02736" y="5193792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02736" y="5193792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6" name="Text 24"/>
          <p:cNvSpPr/>
          <p:nvPr/>
        </p:nvSpPr>
        <p:spPr>
          <a:xfrm>
            <a:off x="3739896" y="52852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de lances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39896" y="5513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R$ 3.331.020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822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CRONOGRAMA DA OPERAÇÃO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86600" y="1097280"/>
            <a:ext cx="466344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1207008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mês 12 via lance embutido (30%) + lance próprio (47%), seguida de amortização em 213 meses com parcelas corrigidas anualmente em 3% pré-fixado.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2697480"/>
            <a:ext cx="36576" cy="27889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2" name="Shape 30"/>
          <p:cNvSpPr/>
          <p:nvPr/>
        </p:nvSpPr>
        <p:spPr>
          <a:xfrm>
            <a:off x="7479792" y="2788920"/>
            <a:ext cx="347472" cy="347472"/>
          </a:xfrm>
          <a:prstGeom prst="ellipse">
            <a:avLst/>
          </a:prstGeom>
          <a:solidFill>
            <a:srgbClr val="8CCFB4"/>
          </a:solidFill>
          <a:ln w="12700">
            <a:solidFill>
              <a:srgbClr val="8CCF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9792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36992" y="27614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1 – 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36992" y="2944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Pré-contemplação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936992" y="32186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de R$ 16.554,16 com acúmulo do lance embutido de 30%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79792" y="3703320"/>
            <a:ext cx="347472" cy="347472"/>
          </a:xfrm>
          <a:prstGeom prst="ellipse">
            <a:avLst/>
          </a:prstGeom>
          <a:solidFill>
            <a:srgbClr val="8CCFB4"/>
          </a:solidFill>
          <a:ln w="12700">
            <a:solidFill>
              <a:srgbClr val="8CCF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3703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36992" y="36758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936992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via lances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936992" y="4133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30% (R$ 1.297.800) + lance próprio 47% (R$ 2.033.220) = R$ 3.331.020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79792" y="4617720"/>
            <a:ext cx="347472" cy="347472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79792" y="4617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36992" y="45902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13 – 225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936992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Pós-contemplação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936992" y="50474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a partir de R$ 8.662,20 com correção anual de 3% pré-fixado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1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Text 82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7" name="Text 8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0" name="Text 88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3" name="Text 91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6" name="Shape 94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7" name="Text 95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Text 163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1" name="Shape 16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2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67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69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72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73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75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76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77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78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79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80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81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82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83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84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85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86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87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88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89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90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91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92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93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94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95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96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3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121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122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123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124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4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159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163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164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165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166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167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168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169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170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171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172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173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174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175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176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177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178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179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180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181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182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183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184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185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186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187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188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189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190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191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192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5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209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213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214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215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216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217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218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219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220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221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222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223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224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225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Observações importantes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Trata-se de uma cotação indicativa.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4708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 proposta inclui seguro.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05456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50545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valores informados são projeções baseadas no estudo do histórico de contemplações do grupo selecionado.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63824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16382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reduzida em 30% até a contemplação, conforme condições previamente estabelecidas.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822192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82219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estudo considera que o cliente possui os recursos para o lance e as parcelas pré-contemplação, aplicados em CDI até a contemplação.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48056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4480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valor de crédito contratado, as parcelas e os lances serão corrigidos anualmente a 3% pré-fixados.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04748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13892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138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513892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está sujeita à análise e aprovação da administradora.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Fale com a nossa equipe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Leblon  |  RJ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Ataulfo de Paiva, 204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201  •  CEP 22.440-033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Barra da Tijuca  |  RJ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das Américas, 3500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Bloco 7, sl. 226 e 227  •  CEP 22.640-102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45936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45936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5" name="Text 13"/>
          <p:cNvSpPr/>
          <p:nvPr/>
        </p:nvSpPr>
        <p:spPr>
          <a:xfrm>
            <a:off x="6483096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Itaim Bibi  |  SP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83096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Rua Bandeira Paulista, 600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92  •  CEP 04.532-001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90304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90304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9" name="Text 17"/>
          <p:cNvSpPr/>
          <p:nvPr/>
        </p:nvSpPr>
        <p:spPr>
          <a:xfrm>
            <a:off x="9427464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Alphaville  |  SP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27464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Cauaxi, 293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1915 e 1916  •  CEP 06.472-001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124712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Contatos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Luca Bellandi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98700-8555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Pedro Ramires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99542-7151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003D2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Proposta de Crédito Estruturado — Fábio</dc:subject>
  <dc:creator>Somus Capital</dc:creator>
  <cp:lastModifiedBy>Somus Capital</cp:lastModifiedBy>
  <cp:revision>1</cp:revision>
  <dcterms:created xsi:type="dcterms:W3CDTF">2026-03-24T13:12:31Z</dcterms:created>
  <dcterms:modified xsi:type="dcterms:W3CDTF">2026-03-24T13:12:31Z</dcterms:modified>
</cp:coreProperties>
</file>